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1" r:id="rId6"/>
    <p:sldId id="258" r:id="rId7"/>
    <p:sldId id="265" r:id="rId8"/>
    <p:sldId id="259" r:id="rId9"/>
    <p:sldId id="260" r:id="rId10"/>
    <p:sldId id="272" r:id="rId11"/>
    <p:sldId id="261" r:id="rId12"/>
    <p:sldId id="262" r:id="rId13"/>
    <p:sldId id="263" r:id="rId14"/>
    <p:sldId id="264" r:id="rId15"/>
    <p:sldId id="266" r:id="rId16"/>
    <p:sldId id="270" r:id="rId17"/>
    <p:sldId id="268" r:id="rId18"/>
    <p:sldId id="269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2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9"/>
        <p:guide pos="28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这次期末大作业的主题，是基于 Kaggle Store Sales 数据集完成一个时间序列销量预测项目。我的目标不是只展示一个最终分数，而是说明我是如何从简单基线一步一步迭代到最终主线模型，并通过单因子实验验证哪些改动真正有效。最后取得的最佳公开分数是 0.38005，这个结果也会作为整套汇报的主线线索。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先看这个任务本身。项目的预测粒度是 date、store_nbr 和 family，也就是每天、每家门店、每个商品大类的销量预测。除了训练和测试主表之外，我还引入了门店信息、交易量、油价以及节假日事件表，所以这个任务不是纯单变量时间序列，而是一个带多种协变量的监督预测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先看这个任务本身。项目的预测粒度是 date、store_nbr 和 family，也就是每天、每家门店、每个商品大类的销量预测。这里我额外把数据规模画成了图表，可以看到 train.csv 有三百多万行，而交易量、油价和节假日这些辅助表规模虽然小得多，但它们决定了协变量信息是否完整。也就是说，这个任务的难点不仅是拟合销量序列，更是把多张表在时间和门店粒度上对齐好。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真正进入复杂模型之前，我先确定了一条比较稳的实验路线。第一步是快速建立基线，知道不用复杂模型时大概能做到什么水平。第二步是逐步加入时间因子和外部协变量。第三步是修复版本四里暴露出来的验证泄漏问题。最后才进入多模型、多序列的集成路线，并通过单因子实验逐步筛出有效因子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从答辩角度看，我认为这个项目最值得讲的不是“我用了什么模型”，而是“我遇到了什么真正的难点，以及我是怎么解决它们的”。首先是多表和多粒度数据的对齐问题，这决定了后面所有输入是否可靠。其次是时间序列验证与真实预测流程不一致的问题，这也是 version4 到 version5 之间最关键的修正。最后一个难点是特征和结构很多，但不能靠直觉判断，只能靠单因子实验逐步确认。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这页想说明，仓库里的各个版本不是随意堆叠的。version1 到 version3 主要是在建立基线并验证外部信息能否带来提升；version4 和 version5 的重点，是发现并修复树模型在多步预测时的验证失真问题；从 version6 开始，项目进入 Darts 主线，并继续通过 version6.1 到 version7.4 的一系列小实验，逐步锁定更优方案。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接下来进入当前最重要的一页，也就是主线方案本身。最终高分方案并不是某一个单独模型，而是一套组合结构。它先把目标序列按 family 拆开，再引入 static、past 和 future 三类协变量，最后通过四组 LightGBMModel、四组 XGBModel、两轮平均和跨模型加权融合，形成最终预测结果。也就是说，成绩提升来自结构设计，而不只是调一个参数。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最后补充一页数据画像，主要是把各张原始数据表的字段和分布截图集中展示出来。这里最重要的信息有三点：第一，train.csv 是绝对主表，规模远大于其他辅助表；第二，transactions、oil、holidays 和 stores 分别承担客流、外部环境、特殊日期和门店属性信息；第三，从这些截图也能看出原始数据并不是简单平滑序列，而是存在明显偏态、长尾和多源异质性，这也是后面必须认真做预处理和协变量治理的原因。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这条主线之所以能稳定工作，很大一部分原因在于前面的数据处理做得比较完整。训练面板需要先补齐缺失日期和 store-family 组合，否则后面的时间序列输入会不规整。油价和交易量也不能直接拿原始表就用，而是要做插值和对齐。节假日信息则需要过滤 transferred 并压缩成真正有意义的特征。做完这些之后，模型输入才是统一而可靠的。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在介绍完主线方案之后，我补充说明一下这个项目实际用到的主流技术。整体上，它并不是一个只靠单一模型跑出来的作业，而是一套比较典型的 Python 数据科学技术栈组合。也就是说，这个项目虽然是课程作业，但它使用的语言、数据处理工具和建模框架，与主流时间序列竞赛和业务预测实践其实是连贯的。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这些技术的选择并不是为了堆叠名词，而是因为它们分别解决了项目里不同层面的问题。简单来说，先要用 pandas 和 numpy 把多表数据理顺，再用 LightGBM 和 XGBoost 处理表格型时间序列特征，最后再用 Darts 把多序列和协变量关系组织起来。所以技术选择背后的逻辑，其实是紧贴任务结构和实验目标的。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更具体地说，这些技术在代码里都有非常明确的分工。pandas 和 numpy 主要集中在 preprocess_train、preprocess_oil、preprocess_transactions 以及 merge_all_data 这些函数里，用来完成补齐、插值和合表。LightGBM 在 version5 里承担无泄漏递推预测，在 version6 以后则作为 Darts 的一个模型分支。XGBoost 与它并行负责另一组分支，而 Darts 则在 get_target_series、get_covariates 和 Trainer 这些模块里承担序列组织与集成预测的骨架角色。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这一页总结的是最有代表性的四个结论。第一，最终融合权重确实会稳定影响分数，而且更偏向 XGBoost 的 0.40 比 0.60 更优。第二，lag 730 和 lag 365 都不能轻易删除，因为它们提供了长周期和年周期信息。第三，节假日特征并不是越多越好，去掉噪声后反而提升。第四，transactions 这个过去协变量仍然有效，删掉之后成绩会明显回退。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在这些实验基础上，当前仓库最优版本是 version7.3，公开榜最佳分数是 0.38005。这一页除了给出最终分数，我还放了排行榜截图作为结果证明，截图里能看到项目账号大约排在 1238 支队伍中的第 108 名，已经进入前百分之九左右。需要说明的是，截图对应的 best entry 是 0.38041，后续我继续清洗节假日特征后，把最终版本推进到了 0.38005。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次课程项目里，我最大的收获有三点。第一，简单基线非常重要，因为它决定了后续每一步改进有没有真正意义。第二，时间序列任务里最容易出问题的地方往往不是模型本身，而是验证流程与真实预测流程不一致。第三，如果没有实验纪律，比如一次只改一个因子、保留版本记录和提交结果，就很难把结论沉淀下来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最后看后续工作。当前结果已经说明这条 Darts 主线是成立的，但还没有走到尽头。下一步我会继续筛节假日最小子集，测试其他协变量和 lag 分支的边际贡献，同时尝试微调模型参数。更重要的是，把现在这种脚本式实验整理成一个更规范、可复现的实验框架，让这个项目从一次课程作业，真正过渡成一个结构完整的时间序列建模项目。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7" Type="http://schemas.openxmlformats.org/officeDocument/2006/relationships/notesSlide" Target="../notesSlides/notesSlide10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514350" y="342900"/>
            <a:ext cx="11163300" cy="6381750"/>
            <a:chOff x="514350" y="342900"/>
            <a:chExt cx="11163300" cy="6381750"/>
          </a:xfrm>
        </p:grpSpPr>
        <p:sp>
          <p:nvSpPr>
            <p:cNvPr id="3" name="Rectangle 3"/>
            <p:cNvSpPr/>
            <p:nvPr/>
          </p:nvSpPr>
          <p:spPr>
            <a:xfrm>
              <a:off x="514350" y="495300"/>
              <a:ext cx="11163300" cy="19050"/>
            </a:xfrm>
            <a:prstGeom prst="rect">
              <a:avLst/>
            </a:prstGeom>
            <a:solidFill>
              <a:srgbClr val="163B66">
                <a:alpha val="12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14350" y="6324600"/>
              <a:ext cx="11163300" cy="9525"/>
            </a:xfrm>
            <a:prstGeom prst="rect">
              <a:avLst/>
            </a:prstGeom>
            <a:solidFill>
              <a:srgbClr val="163B66">
                <a:alpha val="1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486900" y="342900"/>
              <a:ext cx="1752600" cy="1752600"/>
            </a:xfrm>
            <a:prstGeom prst="ellipse">
              <a:avLst/>
            </a:prstGeom>
            <a:solidFill>
              <a:srgbClr val="2F80ED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609600" y="4476750"/>
              <a:ext cx="2247900" cy="2247900"/>
            </a:xfrm>
            <a:prstGeom prst="ellipse">
              <a:avLst/>
            </a:prstGeom>
            <a:solidFill>
              <a:srgbClr val="163B66">
                <a:alpha val="4000"/>
              </a:srgbClr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8169" y="733425"/>
            <a:ext cx="9863614" cy="304800"/>
            <a:chOff x="588169" y="733425"/>
            <a:chExt cx="9863614" cy="304800"/>
          </a:xfrm>
        </p:grpSpPr>
        <p:grpSp>
          <p:nvGrpSpPr>
            <p:cNvPr id="15" name="Group 15"/>
            <p:cNvGrpSpPr/>
            <p:nvPr/>
          </p:nvGrpSpPr>
          <p:grpSpPr>
            <a:xfrm>
              <a:off x="588169" y="733425"/>
              <a:ext cx="214312" cy="200025"/>
              <a:chOff x="588169" y="733425"/>
              <a:chExt cx="214312" cy="2000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59606" y="7810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63B6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31044" y="804862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238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63B6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95325" y="816769"/>
                <a:ext cx="9525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906">
                    <a:moveTo>
                      <a:pt x="0" y="1190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63B6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88169" y="733425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19050">
                <a:solidFill>
                  <a:srgbClr val="163B6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00075" y="733425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0"/>
                    </a:moveTo>
                    <a:lnTo>
                      <a:pt x="0" y="119062"/>
                    </a:lnTo>
                    <a:cubicBezTo>
                      <a:pt x="0" y="132214"/>
                      <a:pt x="10661" y="142875"/>
                      <a:pt x="23812" y="142875"/>
                    </a:cubicBezTo>
                    <a:lnTo>
                      <a:pt x="166688" y="142875"/>
                    </a:lnTo>
                    <a:cubicBezTo>
                      <a:pt x="179839" y="142875"/>
                      <a:pt x="190500" y="132214"/>
                      <a:pt x="190500" y="119062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63B6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95325" y="8763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63B6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59606" y="9239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63B66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952500" y="733425"/>
              <a:ext cx="24849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63B66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</a:rPr>
                <a:t>Store Sales Forecasting</a:t>
              </a:r>
              <a:endParaRPr lang="en-US" sz="1500" b="1" dirty="0">
                <a:solidFill>
                  <a:srgbClr val="163B66"/>
                </a:solidFill>
                <a:latin typeface="Georgia" panose="02040502050405020303"/>
                <a:ea typeface="Georgia" panose="02040502050405020303"/>
                <a:cs typeface="Georgia" panose="02040502050405020303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5779" y="790099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Kaggle 课程项目 · Time Series</a:t>
              </a:r>
              <a:endParaRPr lang="zh-CN" sz="975" b="1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32912" y="1311910"/>
            <a:ext cx="5418887" cy="1950720"/>
            <a:chOff x="3432912" y="1311910"/>
            <a:chExt cx="5418887" cy="1950720"/>
          </a:xfrm>
        </p:grpSpPr>
        <p:sp>
          <p:nvSpPr>
            <p:cNvPr id="19" name="TextBox 19"/>
            <p:cNvSpPr txBox="1"/>
            <p:nvPr/>
          </p:nvSpPr>
          <p:spPr>
            <a:xfrm>
              <a:off x="3432912" y="1311910"/>
              <a:ext cx="5418887" cy="1950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0" b="1" dirty="0">
                  <a:gradFill>
                    <a:gsLst>
                      <a:gs pos="0">
                        <a:srgbClr val="163B66"/>
                      </a:gs>
                      <a:gs pos="100000">
                        <a:srgbClr val="2F80ED"/>
                      </a:gs>
                    </a:gsLst>
                    <a:lin ang="0" scaled="1"/>
                  </a:gradFill>
                  <a:latin typeface="Georgia" panose="02040502050405020303"/>
                  <a:ea typeface="Georgia" panose="02040502050405020303"/>
                  <a:cs typeface="Georgia" panose="02040502050405020303"/>
                </a:rPr>
                <a:t>0.38005</a:t>
              </a:r>
              <a:endParaRPr lang="en-US" sz="9600" b="1" dirty="0">
                <a:gradFill>
                  <a:gsLst>
                    <a:gs pos="0">
                      <a:srgbClr val="163B66"/>
                    </a:gs>
                    <a:gs pos="100000">
                      <a:srgbClr val="2F80ED"/>
                    </a:gs>
                  </a:gsLst>
                  <a:lin ang="0" scaled="1"/>
                </a:gradFill>
                <a:latin typeface="Georgia" panose="02040502050405020303"/>
                <a:ea typeface="Georgia" panose="02040502050405020303"/>
                <a:cs typeface="Georgia" panose="02040502050405020303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39030" y="2766060"/>
              <a:ext cx="2113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BEST KAGGLE PUBLIC SCORE</a:t>
              </a:r>
              <a:endParaRPr lang="en-US" sz="120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44025" y="3443288"/>
            <a:ext cx="9703951" cy="1033462"/>
            <a:chOff x="1244025" y="3443288"/>
            <a:chExt cx="9703951" cy="1033462"/>
          </a:xfrm>
        </p:grpSpPr>
        <p:sp>
          <p:nvSpPr>
            <p:cNvPr id="22" name="TextBox 22"/>
            <p:cNvSpPr txBox="1"/>
            <p:nvPr/>
          </p:nvSpPr>
          <p:spPr>
            <a:xfrm>
              <a:off x="1244025" y="3443288"/>
              <a:ext cx="970395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1F2937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</a:rPr>
                <a:t>Store Sales - Time Series Forecasting</a:t>
              </a:r>
              <a:endParaRPr lang="en-US" sz="3750" b="1" dirty="0">
                <a:solidFill>
                  <a:srgbClr val="1F2937"/>
                </a:solidFill>
                <a:latin typeface="Georgia" panose="02040502050405020303"/>
                <a:ea typeface="Georgia" panose="02040502050405020303"/>
                <a:cs typeface="Georgia" panose="02040502050405020303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32810" y="4110990"/>
              <a:ext cx="53263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从统计基线到多模型时间序列集成的课程项目迭代</a:t>
              </a:r>
              <a:endParaRPr lang="zh-CN" sz="18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124200" y="4762500"/>
            <a:ext cx="5943600" cy="685800"/>
            <a:chOff x="3124200" y="4762500"/>
            <a:chExt cx="5943600" cy="685800"/>
          </a:xfrm>
        </p:grpSpPr>
        <p:sp>
          <p:nvSpPr>
            <p:cNvPr id="25" name="Rectangle 25"/>
            <p:cNvSpPr/>
            <p:nvPr/>
          </p:nvSpPr>
          <p:spPr>
            <a:xfrm>
              <a:off x="3124200" y="4762500"/>
              <a:ext cx="5943600" cy="6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5105400" y="49149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D9E1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086600" y="49149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D9E1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07428" y="49349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主线方案</a:t>
              </a:r>
              <a:endParaRPr lang="zh-CN" sz="1050" b="1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35064" y="5147310"/>
              <a:ext cx="1559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63B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Darts + LGBM + XGB</a:t>
              </a:r>
              <a:endParaRPr lang="en-US" sz="1200" b="1" dirty="0">
                <a:solidFill>
                  <a:srgbClr val="163B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88628" y="49349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最佳版本</a:t>
              </a:r>
              <a:endParaRPr lang="zh-CN" sz="1050" b="1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11186" y="5139214"/>
              <a:ext cx="9696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version7.3</a:t>
              </a:r>
              <a:endParaRPr lang="en-US" sz="127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69828" y="49349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汇报主题</a:t>
              </a:r>
              <a:endParaRPr lang="zh-CN" sz="1050" b="1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21855" y="51473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时间序列预测实验迭代</a:t>
              </a:r>
              <a:endParaRPr lang="zh-CN" sz="120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57212" y="5898356"/>
            <a:ext cx="11075671" cy="457200"/>
            <a:chOff x="557212" y="5898356"/>
            <a:chExt cx="11075671" cy="457200"/>
          </a:xfrm>
        </p:grpSpPr>
        <p:sp>
          <p:nvSpPr>
            <p:cNvPr id="35" name="TextBox 35"/>
            <p:cNvSpPr txBox="1"/>
            <p:nvPr/>
          </p:nvSpPr>
          <p:spPr>
            <a:xfrm>
              <a:off x="557212" y="58983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期末大作业答辩汇报</a:t>
              </a:r>
              <a:endParaRPr lang="zh-CN" sz="112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7212" y="6126956"/>
              <a:ext cx="8536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2026-06-22</a:t>
              </a:r>
              <a:endParaRPr lang="en-US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65100" y="6143149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75" dirty="0">
                  <a:solidFill>
                    <a:srgbClr val="9CA3A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9" name="TextBox 36"/>
          <p:cNvSpPr txBox="1"/>
          <p:nvPr/>
        </p:nvSpPr>
        <p:spPr>
          <a:xfrm>
            <a:off x="1411287" y="6126956"/>
            <a:ext cx="2863215" cy="173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邱承志</a:t>
            </a:r>
            <a:r>
              <a:rPr lang="en-US" altLang="zh-CN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 altLang="en-US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李思佳</a:t>
            </a:r>
            <a:r>
              <a:rPr lang="en-US" altLang="zh-CN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 altLang="en-US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何桂林</a:t>
            </a:r>
            <a:r>
              <a:rPr lang="en-US" altLang="zh-CN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lang="zh-CN" altLang="en-US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徐彩巍</a:t>
            </a:r>
            <a:r>
              <a:rPr lang="en-US" altLang="zh-CN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lang="zh-CN" altLang="en-US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曾雅璃</a:t>
            </a:r>
            <a:r>
              <a:rPr lang="en-US" altLang="zh-CN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 altLang="en-US" sz="1125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张峡婷</a:t>
            </a:r>
            <a:endParaRPr lang="zh-CN" altLang="en-US" sz="1125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3455337" cy="690562"/>
            <a:chOff x="533400" y="514350"/>
            <a:chExt cx="3455337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项目任务与数据输入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31581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TASK DEFINITION · DATA TABLES · CORE FIELDS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1485900"/>
            <a:ext cx="5962650" cy="4495800"/>
            <a:chOff x="533400" y="1485900"/>
            <a:chExt cx="5962650" cy="4495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962650" cy="4495800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1055" y="18354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任务定义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5340" y="2205990"/>
              <a:ext cx="55148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预测未来 16 天、每家门店、每个商品大类的销量</a:t>
              </a:r>
              <a:endPara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0102" y="2627471"/>
              <a:ext cx="5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这是一个以</a:t>
              </a:r>
              <a:r>
                <a:rPr lang="en-US" sz="142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date + store_nbr + family </a:t>
              </a:r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为粒度的监督预测任务。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1055" y="3111818"/>
              <a:ext cx="5169217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任务目标是结合历史销量、促销、交易量、油价和节假日信息，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对测试集中的未来 16 天销量进行预测，并以</a:t>
              </a:r>
              <a:r>
                <a:rPr lang="en-US" sz="1350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RMSLE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作为评价指标。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838200" y="3695700"/>
              <a:ext cx="5353050" cy="9525"/>
            </a:xfrm>
            <a:custGeom>
              <a:avLst/>
              <a:gdLst/>
              <a:ahLst/>
              <a:cxnLst/>
              <a:rect l="l" t="t" r="r" b="b"/>
              <a:pathLst>
                <a:path w="5353050" h="9525">
                  <a:moveTo>
                    <a:pt x="0" y="0"/>
                  </a:moveTo>
                  <a:lnTo>
                    <a:pt x="53530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21055" y="3930968"/>
              <a:ext cx="3720465" cy="1753076"/>
              <a:chOff x="821055" y="3930968"/>
              <a:chExt cx="3720465" cy="1753076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21055" y="39309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63B6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核心字段</a:t>
                </a:r>
                <a:endPara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864394" y="4331494"/>
                <a:ext cx="157163" cy="157163"/>
                <a:chOff x="864394" y="4331494"/>
                <a:chExt cx="157163" cy="157163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934244" y="4401344"/>
                  <a:ext cx="17463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17463">
                      <a:moveTo>
                        <a:pt x="0" y="8731"/>
                      </a:moveTo>
                      <a:cubicBezTo>
                        <a:pt x="0" y="13553"/>
                        <a:pt x="3909" y="17463"/>
                        <a:pt x="8731" y="17463"/>
                      </a:cubicBezTo>
                      <a:cubicBezTo>
                        <a:pt x="13553" y="17463"/>
                        <a:pt x="17463" y="13553"/>
                        <a:pt x="17463" y="8731"/>
                      </a:cubicBezTo>
                      <a:cubicBezTo>
                        <a:pt x="17463" y="3909"/>
                        <a:pt x="13553" y="0"/>
                        <a:pt x="8731" y="0"/>
                      </a:cubicBezTo>
                      <a:cubicBezTo>
                        <a:pt x="3909" y="0"/>
                        <a:pt x="0" y="3909"/>
                        <a:pt x="0" y="8731"/>
                      </a:cubicBez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99319" y="4366419"/>
                  <a:ext cx="87313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3" h="87313">
                      <a:moveTo>
                        <a:pt x="0" y="43656"/>
                      </a:moveTo>
                      <a:cubicBezTo>
                        <a:pt x="0" y="67767"/>
                        <a:pt x="19546" y="87313"/>
                        <a:pt x="43656" y="87313"/>
                      </a:cubicBezTo>
                      <a:cubicBezTo>
                        <a:pt x="67767" y="87313"/>
                        <a:pt x="87313" y="67767"/>
                        <a:pt x="87313" y="43656"/>
                      </a:cubicBezTo>
                      <a:cubicBezTo>
                        <a:pt x="87313" y="19546"/>
                        <a:pt x="67767" y="0"/>
                        <a:pt x="43656" y="0"/>
                      </a:cubicBezTo>
                      <a:cubicBezTo>
                        <a:pt x="19546" y="0"/>
                        <a:pt x="0" y="19546"/>
                        <a:pt x="0" y="43656"/>
                      </a:cubicBez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64394" y="4331494"/>
                  <a:ext cx="157163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57163">
                      <a:moveTo>
                        <a:pt x="0" y="78581"/>
                      </a:moveTo>
                      <a:cubicBezTo>
                        <a:pt x="0" y="121981"/>
                        <a:pt x="35182" y="157163"/>
                        <a:pt x="78581" y="157163"/>
                      </a:cubicBezTo>
                      <a:cubicBezTo>
                        <a:pt x="121981" y="157163"/>
                        <a:pt x="157163" y="121981"/>
                        <a:pt x="157163" y="78581"/>
                      </a:cubicBezTo>
                      <a:cubicBezTo>
                        <a:pt x="157163" y="35182"/>
                        <a:pt x="121981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145858" y="4339114"/>
                <a:ext cx="47869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sales</a:t>
                </a:r>
                <a:endParaRPr lang="en-US" sz="1275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004060" y="434721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目标变量，表示销量</a:t>
                </a:r>
                <a:endPara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873125" y="4693444"/>
                <a:ext cx="139700" cy="157162"/>
                <a:chOff x="873125" y="4693444"/>
                <a:chExt cx="139700" cy="157162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873125" y="4693444"/>
                  <a:ext cx="139700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52388">
                      <a:moveTo>
                        <a:pt x="0" y="26194"/>
                      </a:moveTo>
                      <a:cubicBezTo>
                        <a:pt x="0" y="40660"/>
                        <a:pt x="31273" y="52388"/>
                        <a:pt x="69850" y="52388"/>
                      </a:cubicBezTo>
                      <a:cubicBezTo>
                        <a:pt x="108427" y="52388"/>
                        <a:pt x="139700" y="40660"/>
                        <a:pt x="139700" y="26194"/>
                      </a:cubicBezTo>
                      <a:cubicBezTo>
                        <a:pt x="139700" y="11727"/>
                        <a:pt x="108427" y="0"/>
                        <a:pt x="69850" y="0"/>
                      </a:cubicBezTo>
                      <a:cubicBezTo>
                        <a:pt x="31273" y="0"/>
                        <a:pt x="0" y="11727"/>
                        <a:pt x="0" y="26194"/>
                      </a:cubicBez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73125" y="4719638"/>
                  <a:ext cx="1397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78581">
                      <a:moveTo>
                        <a:pt x="0" y="0"/>
                      </a:moveTo>
                      <a:lnTo>
                        <a:pt x="0" y="52388"/>
                      </a:lnTo>
                      <a:cubicBezTo>
                        <a:pt x="0" y="66854"/>
                        <a:pt x="31273" y="78581"/>
                        <a:pt x="69850" y="78581"/>
                      </a:cubicBezTo>
                      <a:cubicBezTo>
                        <a:pt x="108427" y="78581"/>
                        <a:pt x="139700" y="66854"/>
                        <a:pt x="139700" y="52388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873125" y="4772025"/>
                  <a:ext cx="1397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78581">
                      <a:moveTo>
                        <a:pt x="0" y="0"/>
                      </a:moveTo>
                      <a:lnTo>
                        <a:pt x="0" y="52388"/>
                      </a:lnTo>
                      <a:cubicBezTo>
                        <a:pt x="0" y="66854"/>
                        <a:pt x="31273" y="78581"/>
                        <a:pt x="69850" y="78581"/>
                      </a:cubicBezTo>
                      <a:cubicBezTo>
                        <a:pt x="108427" y="78581"/>
                        <a:pt x="139700" y="66854"/>
                        <a:pt x="139700" y="52388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145858" y="4701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onpromotion</a:t>
                </a:r>
                <a:endParaRPr lang="en-US" sz="1275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442210" y="4709160"/>
                <a:ext cx="990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促销商品数量</a:t>
                </a:r>
                <a:endPara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30" name="Group 30"/>
              <p:cNvGrpSpPr/>
              <p:nvPr/>
            </p:nvGrpSpPr>
            <p:grpSpPr>
              <a:xfrm>
                <a:off x="864394" y="5064125"/>
                <a:ext cx="157163" cy="149225"/>
                <a:chOff x="864394" y="5064125"/>
                <a:chExt cx="157163" cy="149225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864394" y="5133975"/>
                  <a:ext cx="52388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69850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61119"/>
                      </a:lnTo>
                      <a:cubicBezTo>
                        <a:pt x="52388" y="65941"/>
                        <a:pt x="48478" y="69850"/>
                        <a:pt x="43656" y="69850"/>
                      </a:cubicBezTo>
                      <a:lnTo>
                        <a:pt x="8731" y="69850"/>
                      </a:lnTo>
                      <a:cubicBezTo>
                        <a:pt x="3909" y="69850"/>
                        <a:pt x="0" y="65941"/>
                        <a:pt x="0" y="61119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969169" y="5099050"/>
                  <a:ext cx="52388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104775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96044"/>
                      </a:lnTo>
                      <a:cubicBezTo>
                        <a:pt x="52388" y="100866"/>
                        <a:pt x="48478" y="104775"/>
                        <a:pt x="43656" y="104775"/>
                      </a:cubicBezTo>
                      <a:lnTo>
                        <a:pt x="8731" y="104775"/>
                      </a:lnTo>
                      <a:cubicBezTo>
                        <a:pt x="3909" y="104775"/>
                        <a:pt x="0" y="100866"/>
                        <a:pt x="0" y="96044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916781" y="5064125"/>
                  <a:ext cx="52388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139700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130969"/>
                      </a:lnTo>
                      <a:cubicBezTo>
                        <a:pt x="52388" y="135791"/>
                        <a:pt x="48478" y="139700"/>
                        <a:pt x="43656" y="139700"/>
                      </a:cubicBezTo>
                      <a:lnTo>
                        <a:pt x="8731" y="139700"/>
                      </a:lnTo>
                      <a:cubicBezTo>
                        <a:pt x="3909" y="139700"/>
                        <a:pt x="0" y="135791"/>
                        <a:pt x="0" y="130969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73125" y="520382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145858" y="5063014"/>
                <a:ext cx="116600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transactions</a:t>
                </a:r>
                <a:endParaRPr lang="en-US" sz="1275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518410" y="50711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门店每日交易笔数</a:t>
                </a:r>
                <a:endPara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36" name="Group 36"/>
              <p:cNvGrpSpPr/>
              <p:nvPr/>
            </p:nvGrpSpPr>
            <p:grpSpPr>
              <a:xfrm>
                <a:off x="873125" y="5426075"/>
                <a:ext cx="139700" cy="139700"/>
                <a:chOff x="873125" y="5426075"/>
                <a:chExt cx="139700" cy="1397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873125" y="5426075"/>
                  <a:ext cx="13970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69850">
                      <a:moveTo>
                        <a:pt x="69850" y="0"/>
                      </a:moveTo>
                      <a:lnTo>
                        <a:pt x="0" y="34925"/>
                      </a:lnTo>
                      <a:lnTo>
                        <a:pt x="69850" y="69850"/>
                      </a:lnTo>
                      <a:lnTo>
                        <a:pt x="139700" y="34925"/>
                      </a:lnTo>
                      <a:lnTo>
                        <a:pt x="69850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73125" y="5495925"/>
                  <a:ext cx="139700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34925">
                      <a:moveTo>
                        <a:pt x="0" y="0"/>
                      </a:moveTo>
                      <a:lnTo>
                        <a:pt x="69850" y="34925"/>
                      </a:ln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73125" y="5530850"/>
                  <a:ext cx="139700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34925">
                      <a:moveTo>
                        <a:pt x="0" y="0"/>
                      </a:moveTo>
                      <a:lnTo>
                        <a:pt x="69850" y="34925"/>
                      </a:ln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1145858" y="5424964"/>
                <a:ext cx="16569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family / store_nbr</a:t>
                </a:r>
                <a:endParaRPr lang="en-US" sz="1275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070860" y="54330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商品大类与门店编号</a:t>
                </a:r>
                <a:endPara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6800850" y="1485900"/>
            <a:ext cx="4857750" cy="4660106"/>
            <a:chOff x="6800850" y="1485900"/>
            <a:chExt cx="4857750" cy="4660106"/>
          </a:xfrm>
        </p:grpSpPr>
        <p:sp>
          <p:nvSpPr>
            <p:cNvPr id="41" name="Rectangle 41"/>
            <p:cNvSpPr/>
            <p:nvPr/>
          </p:nvSpPr>
          <p:spPr>
            <a:xfrm>
              <a:off x="6800850" y="1485900"/>
              <a:ext cx="4857750" cy="4495800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88505" y="18354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数据表结构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05650" y="2209800"/>
              <a:ext cx="4248150" cy="457200"/>
            </a:xfrm>
            <a:prstGeom prst="roundRect">
              <a:avLst>
                <a:gd name="adj" fmla="val 20833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94258" y="2357914"/>
              <a:ext cx="8714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train.csv</a:t>
              </a:r>
              <a:endParaRPr lang="en-US" sz="127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14460" y="236601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训练集主表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05650" y="2781300"/>
              <a:ext cx="424815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9525">
              <a:solidFill>
                <a:srgbClr val="D9E1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94258" y="2929414"/>
              <a:ext cx="8178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test.csv</a:t>
              </a:r>
              <a:endParaRPr lang="en-US" sz="127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14460" y="2937510"/>
              <a:ext cx="14226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未来 16 天预测目标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05650" y="3352800"/>
              <a:ext cx="424815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9525">
              <a:solidFill>
                <a:srgbClr val="D9E1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94258" y="3500914"/>
              <a:ext cx="10142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stores.csv</a:t>
              </a:r>
              <a:endParaRPr lang="en-US" sz="127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14460" y="3509010"/>
              <a:ext cx="18867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门店城市、类型、cluster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05650" y="3924300"/>
              <a:ext cx="424815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9525">
              <a:solidFill>
                <a:srgbClr val="D9E1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94258" y="4072414"/>
              <a:ext cx="15587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transactions.csv</a:t>
              </a:r>
              <a:endParaRPr lang="en-US" sz="127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14460" y="40805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过去协变量：交易量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105650" y="4495800"/>
              <a:ext cx="424815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9525">
              <a:solidFill>
                <a:srgbClr val="D9E1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94258" y="4643914"/>
              <a:ext cx="6304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oil.csv</a:t>
              </a:r>
              <a:endParaRPr lang="en-US" sz="127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14460" y="46520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未来协变量：原油价格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05650" y="5067300"/>
              <a:ext cx="424815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9525">
              <a:solidFill>
                <a:srgbClr val="D9E1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94258" y="5215414"/>
              <a:ext cx="1808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holidays_events.csv</a:t>
              </a:r>
              <a:endParaRPr lang="en-US" sz="127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26220" y="520382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节假日与事件信息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91362" y="5688806"/>
              <a:ext cx="33514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训练与测试主表之外，项目引入了 4 类辅助数据，</a:t>
              </a:r>
              <a:endParaRPr lang="zh-CN" sz="112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91362" y="591740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因此核心难点不是单模型拟合，而是</a:t>
              </a:r>
              <a:r>
                <a:rPr lang="en-US" sz="1125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lang="zh-CN" sz="1125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多表对齐与协变量治理</a:t>
              </a:r>
              <a:r>
                <a: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。</a:t>
              </a:r>
              <a:endParaRPr lang="zh-CN" sz="112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3802782" cy="690562"/>
            <a:chOff x="533400" y="514350"/>
            <a:chExt cx="3802782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项目任务与数据输入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3606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TASK DEFINITION · DATA SCALE · MULTI-TABLE INPUTS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1485900"/>
            <a:ext cx="4341211" cy="4781550"/>
            <a:chOff x="533400" y="1485900"/>
            <a:chExt cx="4341211" cy="47815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324350" cy="4781550"/>
            </a:xfrm>
            <a:prstGeom prst="roundRect">
              <a:avLst>
                <a:gd name="adj" fmla="val 26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2005" y="18164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任务定义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7242" y="2175986"/>
              <a:ext cx="407736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预测未来 16 天、每店、每品类的销量</a:t>
              </a:r>
              <a:endParaRPr lang="zh-CN" sz="1725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2005" y="2597468"/>
              <a:ext cx="3463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预测粒度是</a:t>
              </a:r>
              <a:r>
                <a:rPr lang="en-US" sz="1350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date + store_nbr + family 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3275" y="2967355"/>
              <a:ext cx="3594735" cy="8972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核心目标是根据历史销量、促销、交易量、油价和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节假日信息，对测试集中的未来 </a:t>
              </a:r>
              <a:r>
                <a:rPr lang="zh-CN" sz="1275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16 天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销量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进行预测，并以 </a:t>
              </a:r>
              <a:r>
                <a:rPr lang="en-US" sz="1275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RMSLE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作为评价指标。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19150" y="3962400"/>
              <a:ext cx="3843509" cy="838200"/>
              <a:chOff x="819150" y="3962400"/>
              <a:chExt cx="3843509" cy="838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19150" y="3962400"/>
                <a:ext cx="990600" cy="838200"/>
              </a:xfrm>
              <a:prstGeom prst="roundRect">
                <a:avLst>
                  <a:gd name="adj" fmla="val 13636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99147" y="4065270"/>
                <a:ext cx="43060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163B66"/>
                    </a:solidFill>
                    <a:latin typeface="Georgia" panose="02040502050405020303"/>
                    <a:ea typeface="Georgia" panose="02040502050405020303"/>
                    <a:cs typeface="Georgia" panose="02040502050405020303"/>
                  </a:rPr>
                  <a:t>54</a:t>
                </a:r>
                <a:endParaRPr lang="en-US" sz="2400" b="1" dirty="0">
                  <a:solidFill>
                    <a:srgbClr val="163B66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91089" y="447770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门店数</a:t>
                </a:r>
                <a:endPara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924050" y="3962400"/>
                <a:ext cx="990600" cy="838200"/>
              </a:xfrm>
              <a:prstGeom prst="roundRect">
                <a:avLst>
                  <a:gd name="adj" fmla="val 13636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204047" y="4065270"/>
                <a:ext cx="43060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163B66"/>
                    </a:solidFill>
                    <a:latin typeface="Georgia" panose="02040502050405020303"/>
                    <a:ea typeface="Georgia" panose="02040502050405020303"/>
                    <a:cs typeface="Georgia" panose="02040502050405020303"/>
                  </a:rPr>
                  <a:t>33</a:t>
                </a:r>
                <a:endParaRPr lang="en-US" sz="2400" b="1" dirty="0">
                  <a:solidFill>
                    <a:srgbClr val="163B66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125980" y="44777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商品大类</a:t>
                </a:r>
                <a:endPara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028950" y="3962400"/>
                <a:ext cx="1543050" cy="838200"/>
              </a:xfrm>
              <a:prstGeom prst="roundRect">
                <a:avLst>
                  <a:gd name="adj" fmla="val 13636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938291" y="4065270"/>
                <a:ext cx="1724368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163B66"/>
                    </a:solidFill>
                    <a:latin typeface="Georgia" panose="02040502050405020303"/>
                    <a:ea typeface="Georgia" panose="02040502050405020303"/>
                    <a:cs typeface="Georgia" panose="02040502050405020303"/>
                  </a:rPr>
                  <a:t>2013-2017</a:t>
                </a:r>
                <a:endParaRPr lang="en-US" sz="2400" b="1" dirty="0">
                  <a:solidFill>
                    <a:srgbClr val="163B66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367088" y="447770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训练时间范围</a:t>
                </a:r>
                <a:endPara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02958" y="5063014"/>
              <a:ext cx="2716529" cy="1185386"/>
              <a:chOff x="802958" y="5063014"/>
              <a:chExt cx="2716529" cy="1185386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02958" y="506301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63B6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关键字段与含义</a:t>
                </a:r>
                <a:endParaRPr lang="zh-CN" sz="127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842962" y="5395912"/>
                <a:ext cx="142875" cy="142875"/>
                <a:chOff x="842962" y="5395912"/>
                <a:chExt cx="142875" cy="14287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906462" y="5459412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74712" y="5427662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39687"/>
                      </a:moveTo>
                      <a:cubicBezTo>
                        <a:pt x="0" y="61606"/>
                        <a:pt x="17769" y="79375"/>
                        <a:pt x="39687" y="79375"/>
                      </a:cubicBezTo>
                      <a:cubicBezTo>
                        <a:pt x="61606" y="79375"/>
                        <a:pt x="79375" y="61606"/>
                        <a:pt x="79375" y="39687"/>
                      </a:cubicBezTo>
                      <a:cubicBezTo>
                        <a:pt x="79375" y="17769"/>
                        <a:pt x="61606" y="0"/>
                        <a:pt x="39687" y="0"/>
                      </a:cubicBezTo>
                      <a:cubicBezTo>
                        <a:pt x="17769" y="0"/>
                        <a:pt x="0" y="17769"/>
                        <a:pt x="0" y="39687"/>
                      </a:cubicBez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42962" y="5395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089660" y="5394960"/>
                <a:ext cx="45053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sales</a:t>
                </a:r>
                <a:endParaRPr lang="en-US" sz="1200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871662" y="54030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目标变量，表示销量</a:t>
                </a:r>
                <a:endPara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33" name="Group 33"/>
              <p:cNvGrpSpPr/>
              <p:nvPr/>
            </p:nvGrpSpPr>
            <p:grpSpPr>
              <a:xfrm>
                <a:off x="850900" y="5700712"/>
                <a:ext cx="127000" cy="142875"/>
                <a:chOff x="850900" y="5700712"/>
                <a:chExt cx="127000" cy="14287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50900" y="5700712"/>
                  <a:ext cx="1270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47625">
                      <a:moveTo>
                        <a:pt x="0" y="23812"/>
                      </a:moveTo>
                      <a:cubicBezTo>
                        <a:pt x="0" y="36964"/>
                        <a:pt x="28430" y="47625"/>
                        <a:pt x="63500" y="47625"/>
                      </a:cubicBezTo>
                      <a:cubicBezTo>
                        <a:pt x="98570" y="47625"/>
                        <a:pt x="127000" y="36964"/>
                        <a:pt x="127000" y="23812"/>
                      </a:cubicBezTo>
                      <a:cubicBezTo>
                        <a:pt x="127000" y="10661"/>
                        <a:pt x="98570" y="0"/>
                        <a:pt x="63500" y="0"/>
                      </a:cubicBezTo>
                      <a:cubicBezTo>
                        <a:pt x="28430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50900" y="5724525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50900" y="5772150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089660" y="56997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onpromotion</a:t>
                </a:r>
                <a:endParaRPr lang="en-US" sz="1200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290762" y="57078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促销中的商品数量</a:t>
                </a:r>
                <a:endPara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842962" y="6013450"/>
                <a:ext cx="142875" cy="136525"/>
                <a:chOff x="842962" y="6013450"/>
                <a:chExt cx="142875" cy="1365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42962" y="6076950"/>
                  <a:ext cx="476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63500">
                      <a:moveTo>
                        <a:pt x="0" y="7937"/>
                      </a:moveTo>
                      <a:cubicBezTo>
                        <a:pt x="0" y="3554"/>
                        <a:pt x="3554" y="0"/>
                        <a:pt x="7937" y="0"/>
                      </a:cubicBezTo>
                      <a:lnTo>
                        <a:pt x="39687" y="0"/>
                      </a:lnTo>
                      <a:cubicBezTo>
                        <a:pt x="44071" y="0"/>
                        <a:pt x="47625" y="3554"/>
                        <a:pt x="47625" y="7937"/>
                      </a:cubicBezTo>
                      <a:lnTo>
                        <a:pt x="47625" y="55562"/>
                      </a:lnTo>
                      <a:cubicBezTo>
                        <a:pt x="47625" y="59946"/>
                        <a:pt x="44071" y="63500"/>
                        <a:pt x="39687" y="63500"/>
                      </a:cubicBezTo>
                      <a:lnTo>
                        <a:pt x="7937" y="63500"/>
                      </a:lnTo>
                      <a:cubicBezTo>
                        <a:pt x="3554" y="63500"/>
                        <a:pt x="0" y="59946"/>
                        <a:pt x="0" y="55562"/>
                      </a:cubicBezTo>
                      <a:lnTo>
                        <a:pt x="0" y="7937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8212" y="6045200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0" y="7937"/>
                      </a:moveTo>
                      <a:cubicBezTo>
                        <a:pt x="0" y="3554"/>
                        <a:pt x="3554" y="0"/>
                        <a:pt x="7937" y="0"/>
                      </a:cubicBezTo>
                      <a:lnTo>
                        <a:pt x="39687" y="0"/>
                      </a:lnTo>
                      <a:cubicBezTo>
                        <a:pt x="44071" y="0"/>
                        <a:pt x="47625" y="3554"/>
                        <a:pt x="47625" y="7937"/>
                      </a:cubicBezTo>
                      <a:lnTo>
                        <a:pt x="47625" y="87312"/>
                      </a:lnTo>
                      <a:cubicBezTo>
                        <a:pt x="47625" y="91696"/>
                        <a:pt x="44071" y="95250"/>
                        <a:pt x="39687" y="95250"/>
                      </a:cubicBezTo>
                      <a:lnTo>
                        <a:pt x="7937" y="95250"/>
                      </a:lnTo>
                      <a:cubicBezTo>
                        <a:pt x="3554" y="95250"/>
                        <a:pt x="0" y="91696"/>
                        <a:pt x="0" y="87312"/>
                      </a:cubicBezTo>
                      <a:lnTo>
                        <a:pt x="0" y="7937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90587" y="6013450"/>
                  <a:ext cx="476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127000">
                      <a:moveTo>
                        <a:pt x="0" y="7937"/>
                      </a:moveTo>
                      <a:cubicBezTo>
                        <a:pt x="0" y="3554"/>
                        <a:pt x="3554" y="0"/>
                        <a:pt x="7937" y="0"/>
                      </a:cubicBezTo>
                      <a:lnTo>
                        <a:pt x="39687" y="0"/>
                      </a:lnTo>
                      <a:cubicBezTo>
                        <a:pt x="44071" y="0"/>
                        <a:pt x="47625" y="3554"/>
                        <a:pt x="47625" y="7937"/>
                      </a:cubicBezTo>
                      <a:lnTo>
                        <a:pt x="47625" y="119062"/>
                      </a:lnTo>
                      <a:cubicBezTo>
                        <a:pt x="47625" y="123446"/>
                        <a:pt x="44071" y="127000"/>
                        <a:pt x="39687" y="127000"/>
                      </a:cubicBezTo>
                      <a:lnTo>
                        <a:pt x="7937" y="127000"/>
                      </a:lnTo>
                      <a:cubicBezTo>
                        <a:pt x="3554" y="127000"/>
                        <a:pt x="0" y="123446"/>
                        <a:pt x="0" y="119062"/>
                      </a:cubicBezTo>
                      <a:lnTo>
                        <a:pt x="0" y="7937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50900" y="61404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089660" y="6004560"/>
                <a:ext cx="233236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transactions / oil / holidays</a:t>
                </a:r>
                <a:endParaRPr lang="en-US" sz="1200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5162550" y="1485900"/>
            <a:ext cx="6496050" cy="3248025"/>
            <a:chOff x="5162550" y="1485900"/>
            <a:chExt cx="6496050" cy="3248025"/>
          </a:xfrm>
        </p:grpSpPr>
        <p:sp>
          <p:nvSpPr>
            <p:cNvPr id="44" name="Rectangle 44"/>
            <p:cNvSpPr/>
            <p:nvPr/>
          </p:nvSpPr>
          <p:spPr>
            <a:xfrm>
              <a:off x="5162550" y="1485900"/>
              <a:ext cx="6496050" cy="3181350"/>
            </a:xfrm>
            <a:prstGeom prst="roundRect">
              <a:avLst>
                <a:gd name="adj" fmla="val 359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31155" y="18164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数据规模对比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6057900" y="2381250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6057900" y="2857500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057900" y="3333750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057900" y="3810000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057900" y="4286250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057900" y="4476750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14288">
              <a:solidFill>
                <a:srgbClr val="D9E1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46470" y="4551045"/>
              <a:ext cx="88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CA3A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</a:t>
              </a:r>
              <a:endParaRPr lang="en-US" sz="900" dirty="0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41870" y="4551045"/>
              <a:ext cx="376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CA3A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0.75M</a:t>
              </a:r>
              <a:endParaRPr lang="en-US" sz="900" dirty="0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8220" y="4551045"/>
              <a:ext cx="3108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CA3A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1.5M</a:t>
              </a:r>
              <a:endParaRPr lang="en-US" sz="900" dirty="0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94570" y="4551045"/>
              <a:ext cx="376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CA3A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2.25M</a:t>
              </a:r>
              <a:endParaRPr lang="en-US" sz="900" dirty="0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13770" y="4551045"/>
              <a:ext cx="3108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CA3A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3.0M</a:t>
              </a:r>
              <a:endParaRPr lang="en-US" sz="900" dirty="0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34012" y="2240756"/>
              <a:ext cx="768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train.csv</a:t>
              </a:r>
              <a:endParaRPr lang="en-US" sz="1125" b="1" dirty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57900" y="2171700"/>
              <a:ext cx="5467350" cy="247650"/>
            </a:xfrm>
            <a:prstGeom prst="roundRect">
              <a:avLst>
                <a:gd name="adj" fmla="val 30769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545336" y="2237899"/>
              <a:ext cx="877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63B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3,000,888 行</a:t>
              </a:r>
              <a:endParaRPr lang="zh-CN" sz="975" b="1" dirty="0">
                <a:solidFill>
                  <a:srgbClr val="163B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34012" y="2717006"/>
              <a:ext cx="13753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transactions.csv</a:t>
              </a:r>
              <a:endParaRPr lang="en-US" sz="1125" b="1" dirty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57900" y="2647950"/>
              <a:ext cx="152400" cy="247650"/>
            </a:xfrm>
            <a:prstGeom prst="roundRect">
              <a:avLst>
                <a:gd name="adj" fmla="val 50000"/>
              </a:avLst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50728" y="2714149"/>
              <a:ext cx="652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F80E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83,488 行</a:t>
              </a:r>
              <a:endParaRPr lang="zh-CN" sz="975" b="1" dirty="0">
                <a:solidFill>
                  <a:srgbClr val="2F80E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34012" y="3193256"/>
              <a:ext cx="721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test.csv</a:t>
              </a:r>
              <a:endParaRPr lang="en-US" sz="1125" b="1" dirty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57900" y="3124200"/>
              <a:ext cx="57150" cy="2476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22128" y="3190399"/>
              <a:ext cx="652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7AE6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28,512 行</a:t>
              </a:r>
              <a:endParaRPr lang="zh-CN" sz="975" b="1" dirty="0">
                <a:solidFill>
                  <a:srgbClr val="27AE6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434012" y="3669506"/>
              <a:ext cx="5562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oil.csv</a:t>
              </a:r>
              <a:endParaRPr lang="en-US" sz="1125" b="1" dirty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057900" y="3600450"/>
              <a:ext cx="28575" cy="247650"/>
            </a:xfrm>
            <a:prstGeom prst="roundRect">
              <a:avLst>
                <a:gd name="adj" fmla="val 50000"/>
              </a:avLst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31070" y="3666649"/>
              <a:ext cx="5776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28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1,218 行</a:t>
              </a:r>
              <a:endParaRPr lang="zh-CN" sz="975" b="1" dirty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434012" y="4145756"/>
              <a:ext cx="1595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holidays_events.csv</a:t>
              </a:r>
              <a:endParaRPr lang="en-US" sz="1125" b="1" dirty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57900" y="4076700"/>
              <a:ext cx="19050" cy="247650"/>
            </a:xfrm>
            <a:prstGeom prst="roundRect">
              <a:avLst>
                <a:gd name="adj" fmla="val 50000"/>
              </a:avLst>
            </a:prstGeom>
            <a:solidFill>
              <a:srgbClr val="D64545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58300" y="4142899"/>
              <a:ext cx="427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D6454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350 行</a:t>
              </a:r>
              <a:endParaRPr lang="zh-CN" sz="975" b="1" dirty="0">
                <a:solidFill>
                  <a:srgbClr val="D6454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162550" y="4838700"/>
            <a:ext cx="6496050" cy="1428750"/>
            <a:chOff x="5162550" y="4838700"/>
            <a:chExt cx="6496050" cy="1428750"/>
          </a:xfrm>
        </p:grpSpPr>
        <p:sp>
          <p:nvSpPr>
            <p:cNvPr id="73" name="Rectangle 73"/>
            <p:cNvSpPr/>
            <p:nvPr/>
          </p:nvSpPr>
          <p:spPr>
            <a:xfrm>
              <a:off x="5162550" y="4838700"/>
              <a:ext cx="649605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431155" y="51120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辅助数据表角色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448300" y="5467350"/>
              <a:ext cx="1809750" cy="514350"/>
            </a:xfrm>
            <a:prstGeom prst="roundRect">
              <a:avLst>
                <a:gd name="adj" fmla="val 18519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567997" y="5519261"/>
              <a:ext cx="8949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stores.csv</a:t>
              </a:r>
              <a:endParaRPr lang="en-US" sz="112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626418" y="577230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门店城市、类型、cluster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467600" y="5467350"/>
              <a:ext cx="1809750" cy="514350"/>
            </a:xfrm>
            <a:prstGeom prst="roundRect">
              <a:avLst>
                <a:gd name="adj" fmla="val 18519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603807" y="5519261"/>
              <a:ext cx="1792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sample_submission.csv</a:t>
              </a:r>
              <a:endParaRPr lang="en-US" sz="112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45718" y="580659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提交模板，28,512 条预测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486900" y="5467350"/>
              <a:ext cx="1885950" cy="514350"/>
            </a:xfrm>
            <a:prstGeom prst="roundRect">
              <a:avLst>
                <a:gd name="adj" fmla="val 18519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663112" y="551926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建模难点</a:t>
              </a:r>
              <a:endParaRPr lang="zh-CN" sz="112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662478" y="58065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多表对齐与协变量治理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1446050" y="639079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4486418" cy="690562"/>
            <a:chOff x="533400" y="514350"/>
            <a:chExt cx="4486418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整体建模路线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42902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BASELINE → FEATURES → VALIDATION FIX → ENSEMBLE → ABLATION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1581150"/>
            <a:ext cx="11125200" cy="1123950"/>
            <a:chOff x="533400" y="1581150"/>
            <a:chExt cx="11125200" cy="1123950"/>
          </a:xfrm>
        </p:grpSpPr>
        <p:sp>
          <p:nvSpPr>
            <p:cNvPr id="7" name="Rectangle 7"/>
            <p:cNvSpPr/>
            <p:nvPr/>
          </p:nvSpPr>
          <p:spPr>
            <a:xfrm>
              <a:off x="533400" y="1581150"/>
              <a:ext cx="11125200" cy="1123950"/>
            </a:xfrm>
            <a:prstGeom prst="roundRect">
              <a:avLst>
                <a:gd name="adj" fmla="val 101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381250" y="2143125"/>
              <a:ext cx="600075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4591050" y="2143125"/>
              <a:ext cx="600075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6800850" y="2143125"/>
              <a:ext cx="600075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9010650" y="2143125"/>
              <a:ext cx="600075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50344" y="1661160"/>
              <a:ext cx="1194911" cy="955834"/>
              <a:chOff x="850344" y="1661160"/>
              <a:chExt cx="1194911" cy="955834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1162050" y="1857375"/>
                <a:ext cx="571500" cy="571500"/>
              </a:xfrm>
              <a:prstGeom prst="ellipse">
                <a:avLst/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370993" y="20574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1</a:t>
                </a:r>
                <a:endParaRPr lang="en-US" sz="15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96518" y="1661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建立基线</a:t>
                </a:r>
                <a:endParaRPr lang="zh-CN" sz="12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0344" y="2418874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先验证能否稳定跑通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995136" y="1661160"/>
              <a:ext cx="1324928" cy="955834"/>
              <a:chOff x="2995136" y="1661160"/>
              <a:chExt cx="1324928" cy="95583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3371850" y="1857375"/>
                <a:ext cx="571500" cy="571500"/>
              </a:xfrm>
              <a:prstGeom prst="ellipse">
                <a:avLst/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580793" y="20574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2</a:t>
                </a:r>
                <a:endParaRPr lang="en-US" sz="15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306318" y="1661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加入特征</a:t>
                </a:r>
                <a:endParaRPr lang="zh-CN" sz="12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995136" y="2418874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时间因子与外部协变量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952" y="1661160"/>
              <a:ext cx="1064895" cy="955834"/>
              <a:chOff x="5334952" y="1661160"/>
              <a:chExt cx="1064895" cy="955834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5581650" y="1857375"/>
                <a:ext cx="571500" cy="571500"/>
              </a:xfrm>
              <a:prstGeom prst="ellipse">
                <a:avLst/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790593" y="20574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3</a:t>
                </a:r>
                <a:endParaRPr lang="en-US" sz="15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516118" y="1661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修复验证</a:t>
                </a:r>
                <a:endParaRPr lang="zh-CN" sz="12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34952" y="241887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消除多步预测泄漏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541502" y="1661160"/>
              <a:ext cx="1071396" cy="955834"/>
              <a:chOff x="7541502" y="1661160"/>
              <a:chExt cx="1071396" cy="955834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791450" y="1857375"/>
                <a:ext cx="571500" cy="571500"/>
              </a:xfrm>
              <a:prstGeom prst="ellipse">
                <a:avLst/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000393" y="20574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4</a:t>
                </a:r>
                <a:endParaRPr lang="en-US" sz="15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725918" y="1661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转向集成</a:t>
                </a:r>
                <a:endParaRPr lang="zh-CN" sz="12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541502" y="2418874"/>
                <a:ext cx="10713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Darts 多序列建模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89544" y="1661160"/>
              <a:ext cx="1194911" cy="955834"/>
              <a:chOff x="9689544" y="1661160"/>
              <a:chExt cx="1194911" cy="955834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0001250" y="1857375"/>
                <a:ext cx="571500" cy="571500"/>
              </a:xfrm>
              <a:prstGeom prst="ellipse">
                <a:avLst/>
              </a:prstGeom>
              <a:solidFill>
                <a:srgbClr val="163B66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210193" y="20574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5</a:t>
                </a:r>
                <a:endPara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851708" y="16611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单因子实验</a:t>
                </a:r>
                <a:endParaRPr lang="zh-CN" sz="12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89544" y="2418874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确认真正有效的改动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33400" y="3048000"/>
            <a:ext cx="11125200" cy="2933700"/>
            <a:chOff x="533400" y="3048000"/>
            <a:chExt cx="11125200" cy="2933700"/>
          </a:xfrm>
        </p:grpSpPr>
        <p:sp>
          <p:nvSpPr>
            <p:cNvPr id="38" name="Rectangle 38"/>
            <p:cNvSpPr/>
            <p:nvPr/>
          </p:nvSpPr>
          <p:spPr>
            <a:xfrm>
              <a:off x="533400" y="3048000"/>
              <a:ext cx="5372100" cy="2933700"/>
            </a:xfrm>
            <a:prstGeom prst="roundRect">
              <a:avLst>
                <a:gd name="adj" fmla="val 38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86500" y="3048000"/>
              <a:ext cx="5372100" cy="2933700"/>
            </a:xfrm>
            <a:prstGeom prst="roundRect">
              <a:avLst>
                <a:gd name="adj" fmla="val 38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1055" y="3359468"/>
              <a:ext cx="28696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为什么不是一开始就上复杂模型？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1055" y="3740468"/>
              <a:ext cx="4491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因为课程项目里最重要的不是“堆模型”，而是要明确知道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每一步改动是否真的带来了收益。先建立基线，才能判断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后面引入的时间特征、协变量和集成结构到底有没有意义。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838200" y="43624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2008" y="4624864"/>
              <a:ext cx="42829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核心方法论：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每次只改一个因子，保留版本与分数记录，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2008" y="4891564"/>
              <a:ext cx="46229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这样最终得到的不是一串脚本，而是一条可解释的实验链路。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74155" y="3359468"/>
              <a:ext cx="26806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这条路线最终解决了什么问题？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6575108" y="3786664"/>
              <a:ext cx="4971502" cy="1402080"/>
              <a:chOff x="6575108" y="3786664"/>
              <a:chExt cx="4971502" cy="1402080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575108" y="3786664"/>
                <a:ext cx="384086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2F80E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1.</a:t>
                </a:r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建立最基础可运行方案，避免项目一开始就失控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575108" y="4167664"/>
                <a:ext cx="418090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2F80E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2.</a:t>
                </a:r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把验证流程改成与真实预测一致，修正线下乐观偏差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75108" y="4548664"/>
                <a:ext cx="441043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2F80E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3.</a:t>
                </a:r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通过 Darts 集成显著提升比分，同时保留实验可追踪性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575108" y="4929664"/>
                <a:ext cx="497150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2F80E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4.</a:t>
                </a:r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通过单因子消融确认 lag、节假日和 transactions 的边际价值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52" name="TextBox 52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4795156" cy="690562"/>
            <a:chOff x="533400" y="514350"/>
            <a:chExt cx="4795156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项目难点与解决策略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45989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ALIGNMENT · VALIDATION · FEATURE NOISE · PIPELINE ORGANIZATION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619250"/>
            <a:ext cx="4972050" cy="4267200"/>
            <a:chOff x="533400" y="1619250"/>
            <a:chExt cx="4972050" cy="4267200"/>
          </a:xfrm>
        </p:grpSpPr>
        <p:sp>
          <p:nvSpPr>
            <p:cNvPr id="7" name="Rectangle 7"/>
            <p:cNvSpPr/>
            <p:nvPr/>
          </p:nvSpPr>
          <p:spPr>
            <a:xfrm>
              <a:off x="533400" y="1619250"/>
              <a:ext cx="4972050" cy="42672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0102" y="18654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项目难点</a:t>
              </a:r>
              <a:endParaRPr lang="zh-CN" sz="142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2008" y="2376964"/>
              <a:ext cx="3497580" cy="24498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多张表、不同粒度、不同日期范围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放在一起之后，数据很容易错位。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1950"/>
                </a:lnSpc>
                <a:spcBef>
                  <a:spcPts val="1200"/>
                </a:spcBef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 树模型做多步预测时，线下验证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很容易不小心看到未来信息。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1950"/>
                </a:lnSpc>
                <a:spcBef>
                  <a:spcPts val="1200"/>
                </a:spcBef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 特征和协变量很多，但不代表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全部都有效，甚至可能引入噪声。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1950"/>
                </a:lnSpc>
                <a:spcBef>
                  <a:spcPts val="1200"/>
                </a:spcBef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 主线方案进入多序列、多模型、多协变量后，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代码组织和实验管理复杂度明显上升。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15050" y="1619250"/>
            <a:ext cx="5543550" cy="4267200"/>
            <a:chOff x="6115050" y="1619250"/>
            <a:chExt cx="5543550" cy="4267200"/>
          </a:xfrm>
        </p:grpSpPr>
        <p:sp>
          <p:nvSpPr>
            <p:cNvPr id="11" name="Rectangle 11"/>
            <p:cNvSpPr/>
            <p:nvPr/>
          </p:nvSpPr>
          <p:spPr>
            <a:xfrm>
              <a:off x="6115050" y="1619250"/>
              <a:ext cx="5543550" cy="42672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415088" y="1907107"/>
              <a:ext cx="200081" cy="224357"/>
              <a:chOff x="6415088" y="1907107"/>
              <a:chExt cx="200081" cy="22435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415088" y="1907107"/>
                <a:ext cx="200081" cy="224357"/>
              </a:xfrm>
              <a:custGeom>
                <a:avLst/>
                <a:gdLst/>
                <a:ahLst/>
                <a:cxnLst/>
                <a:rect l="l" t="t" r="r" b="b"/>
                <a:pathLst>
                  <a:path w="200081" h="224357">
                    <a:moveTo>
                      <a:pt x="187524" y="48519"/>
                    </a:moveTo>
                    <a:cubicBezTo>
                      <a:pt x="195301" y="52941"/>
                      <a:pt x="200081" y="61220"/>
                      <a:pt x="200026" y="70166"/>
                    </a:cubicBezTo>
                    <a:lnTo>
                      <a:pt x="200026" y="151110"/>
                    </a:lnTo>
                    <a:cubicBezTo>
                      <a:pt x="200026" y="160100"/>
                      <a:pt x="195103" y="168390"/>
                      <a:pt x="187157" y="172757"/>
                    </a:cubicBezTo>
                    <a:lnTo>
                      <a:pt x="112148" y="220207"/>
                    </a:lnTo>
                    <a:cubicBezTo>
                      <a:pt x="104590" y="224357"/>
                      <a:pt x="95436" y="224357"/>
                      <a:pt x="87878" y="220207"/>
                    </a:cubicBezTo>
                    <a:lnTo>
                      <a:pt x="12868" y="172757"/>
                    </a:lnTo>
                    <a:cubicBezTo>
                      <a:pt x="4950" y="168430"/>
                      <a:pt x="18" y="160133"/>
                      <a:pt x="0" y="151110"/>
                    </a:cubicBezTo>
                    <a:lnTo>
                      <a:pt x="0" y="70155"/>
                    </a:lnTo>
                    <a:cubicBezTo>
                      <a:pt x="0" y="61165"/>
                      <a:pt x="4923" y="52886"/>
                      <a:pt x="12868" y="48519"/>
                    </a:cubicBezTo>
                    <a:lnTo>
                      <a:pt x="87878" y="4291"/>
                    </a:lnTo>
                    <a:cubicBezTo>
                      <a:pt x="95660" y="0"/>
                      <a:pt x="105099" y="0"/>
                      <a:pt x="112881" y="4291"/>
                    </a:cubicBezTo>
                    <a:lnTo>
                      <a:pt x="187891" y="48519"/>
                    </a:lnTo>
                    <a:lnTo>
                      <a:pt x="187524" y="48519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81763" y="19859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63702" y="19416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对应解决策略</a:t>
              </a:r>
              <a:endParaRPr lang="zh-CN" sz="142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65558" y="2434114"/>
              <a:ext cx="492252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先用统一面板补齐策略，把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train / oil / transactions / holidays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逐步对齐到同一时间轴和同一业务粒度上。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381750" y="2990850"/>
              <a:ext cx="4972050" cy="9525"/>
            </a:xfrm>
            <a:custGeom>
              <a:avLst/>
              <a:gdLst/>
              <a:ahLst/>
              <a:cxnLst/>
              <a:rect l="l" t="t" r="r" b="b"/>
              <a:pathLst>
                <a:path w="4972050" h="9525">
                  <a:moveTo>
                    <a:pt x="0" y="0"/>
                  </a:moveTo>
                  <a:lnTo>
                    <a:pt x="49720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65558" y="3272314"/>
              <a:ext cx="32708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在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version5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里改成逐日递推预测，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确保未来特征只能依赖历史和前一步预测值。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381750" y="3829050"/>
              <a:ext cx="4972050" cy="9525"/>
            </a:xfrm>
            <a:custGeom>
              <a:avLst/>
              <a:gdLst/>
              <a:ahLst/>
              <a:cxnLst/>
              <a:rect l="l" t="t" r="r" b="b"/>
              <a:pathLst>
                <a:path w="4972050" h="9525">
                  <a:moveTo>
                    <a:pt x="0" y="0"/>
                  </a:moveTo>
                  <a:lnTo>
                    <a:pt x="49720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5558" y="4110514"/>
              <a:ext cx="40886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用单因子实验逐个测试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lags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holidays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transactions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的边际贡献，避免凭感觉加特征。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381750" y="4667250"/>
              <a:ext cx="4972050" cy="9525"/>
            </a:xfrm>
            <a:custGeom>
              <a:avLst/>
              <a:gdLst/>
              <a:ahLst/>
              <a:cxnLst/>
              <a:rect l="l" t="t" r="r" b="b"/>
              <a:pathLst>
                <a:path w="4972050" h="9525">
                  <a:moveTo>
                    <a:pt x="0" y="0"/>
                  </a:moveTo>
                  <a:lnTo>
                    <a:pt x="49720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65558" y="4948714"/>
              <a:ext cx="40238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在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Darts + Trainer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框架下统一多序列和协变量接口，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并通过版本目录保留每次改动和提交结果。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3839537" cy="690562"/>
            <a:chOff x="533400" y="514350"/>
            <a:chExt cx="3839537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版本演进路径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36433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FROM BASELINE TO DARTS ENSEMBLE · VERSION TRACK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09790" y="3108960"/>
            <a:ext cx="10377310" cy="1105852"/>
            <a:chOff x="709790" y="3108960"/>
            <a:chExt cx="10377310" cy="1105852"/>
          </a:xfrm>
        </p:grpSpPr>
        <p:sp>
          <p:nvSpPr>
            <p:cNvPr id="7" name="Line 7"/>
            <p:cNvSpPr/>
            <p:nvPr/>
          </p:nvSpPr>
          <p:spPr>
            <a:xfrm>
              <a:off x="1123950" y="3676650"/>
              <a:ext cx="9963150" cy="9525"/>
            </a:xfrm>
            <a:custGeom>
              <a:avLst/>
              <a:gdLst/>
              <a:ahLst/>
              <a:cxnLst/>
              <a:rect l="l" t="t" r="r" b="b"/>
              <a:pathLst>
                <a:path w="9963150" h="9525">
                  <a:moveTo>
                    <a:pt x="0" y="0"/>
                  </a:moveTo>
                  <a:lnTo>
                    <a:pt x="9963150" y="0"/>
                  </a:lnTo>
                </a:path>
              </a:pathLst>
            </a:custGeom>
            <a:noFill/>
            <a:ln w="95250" cap="rnd">
              <a:solidFill>
                <a:srgbClr val="D9E1EA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23950" y="3676650"/>
              <a:ext cx="9048750" cy="9525"/>
            </a:xfrm>
            <a:custGeom>
              <a:avLst/>
              <a:gdLst/>
              <a:ahLst/>
              <a:cxnLst/>
              <a:rect l="l" t="t" r="r" b="b"/>
              <a:pathLst>
                <a:path w="9048750" h="9525">
                  <a:moveTo>
                    <a:pt x="0" y="0"/>
                  </a:moveTo>
                  <a:lnTo>
                    <a:pt x="9048750" y="0"/>
                  </a:lnTo>
                </a:path>
              </a:pathLst>
            </a:custGeom>
            <a:noFill/>
            <a:ln w="95250" cap="rnd">
              <a:solidFill>
                <a:srgbClr val="163B66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09790" y="3108960"/>
              <a:ext cx="10015817" cy="1105852"/>
              <a:chOff x="709790" y="3108960"/>
              <a:chExt cx="10015817" cy="1105852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709790" y="3177064"/>
                <a:ext cx="1514120" cy="1037748"/>
                <a:chOff x="709790" y="3177064"/>
                <a:chExt cx="1514120" cy="1037748"/>
              </a:xfrm>
            </p:grpSpPr>
            <p:sp>
              <p:nvSpPr>
                <p:cNvPr id="9" name="Ellipse 9"/>
                <p:cNvSpPr/>
                <p:nvPr/>
              </p:nvSpPr>
              <p:spPr>
                <a:xfrm>
                  <a:off x="1295400" y="3505200"/>
                  <a:ext cx="342900" cy="34290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163B66"/>
                  </a:solidFill>
                </a:ln>
              </p:spPr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386111" y="3636645"/>
                  <a:ext cx="16147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163B66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v1</a:t>
                  </a:r>
                  <a:endParaRPr lang="en-US" sz="9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709790" y="3177064"/>
                  <a:ext cx="1514120" cy="259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75" b="1" dirty="0">
                      <a:solidFill>
                        <a:srgbClr val="1F2937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LinearRegression</a:t>
                  </a:r>
                  <a:endParaRPr lang="en-US" sz="1275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103471" y="4001452"/>
                  <a:ext cx="72675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6B7280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最简单基线</a:t>
                  </a:r>
                  <a:endParaRPr lang="zh-CN" sz="105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1972932" y="3108960"/>
                <a:ext cx="1273835" cy="1105852"/>
                <a:chOff x="1972932" y="3108960"/>
                <a:chExt cx="1273835" cy="1105852"/>
              </a:xfrm>
            </p:grpSpPr>
            <p:sp>
              <p:nvSpPr>
                <p:cNvPr id="14" name="Ellipse 14"/>
                <p:cNvSpPr/>
                <p:nvPr/>
              </p:nvSpPr>
              <p:spPr>
                <a:xfrm>
                  <a:off x="2438400" y="3505200"/>
                  <a:ext cx="342900" cy="34290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163B66"/>
                  </a:solidFill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529111" y="3636645"/>
                  <a:ext cx="16147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163B66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v2</a:t>
                  </a:r>
                  <a:endParaRPr lang="en-US" sz="9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972932" y="3108960"/>
                  <a:ext cx="1273835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F2937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Moving Average</a:t>
                  </a:r>
                  <a:endParaRPr lang="en-US" sz="1200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2326981" y="4001452"/>
                  <a:ext cx="565737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rgbClr val="6B728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0.47815</a:t>
                  </a:r>
                  <a:endParaRPr lang="en-US" sz="1050" dirty="0">
                    <a:solidFill>
                      <a:srgbClr val="6B728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3321758" y="3185160"/>
                <a:ext cx="862184" cy="1029652"/>
                <a:chOff x="3321758" y="3185160"/>
                <a:chExt cx="862184" cy="1029652"/>
              </a:xfrm>
            </p:grpSpPr>
            <p:sp>
              <p:nvSpPr>
                <p:cNvPr id="19" name="Ellipse 19"/>
                <p:cNvSpPr/>
                <p:nvPr/>
              </p:nvSpPr>
              <p:spPr>
                <a:xfrm>
                  <a:off x="3581400" y="3505200"/>
                  <a:ext cx="342900" cy="34290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163B66"/>
                  </a:solidFill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3672111" y="3636645"/>
                  <a:ext cx="16147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163B66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v3</a:t>
                  </a:r>
                  <a:endParaRPr lang="en-US" sz="9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3321758" y="3185160"/>
                  <a:ext cx="862184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F2937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MA + Ridge</a:t>
                  </a:r>
                  <a:endParaRPr lang="en-US" sz="1200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3469981" y="4001452"/>
                  <a:ext cx="565737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rgbClr val="6B728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0.44476</a:t>
                  </a:r>
                  <a:endParaRPr lang="en-US" sz="1050" dirty="0">
                    <a:solidFill>
                      <a:srgbClr val="6B728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4705664" y="3108960"/>
                <a:ext cx="761371" cy="1105852"/>
                <a:chOff x="4705664" y="3108960"/>
                <a:chExt cx="761371" cy="1105852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4914900" y="3505200"/>
                  <a:ext cx="342900" cy="34290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163B66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5005611" y="3636645"/>
                  <a:ext cx="16147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163B66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v4</a:t>
                  </a:r>
                  <a:endParaRPr lang="en-US" sz="9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705664" y="3108960"/>
                  <a:ext cx="761371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F2937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LightGBM</a:t>
                  </a:r>
                  <a:endParaRPr lang="en-US" sz="1200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792980" y="4001452"/>
                  <a:ext cx="58674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D64545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线上失真</a:t>
                  </a:r>
                  <a:endParaRPr lang="zh-CN" sz="1050" dirty="0">
                    <a:solidFill>
                      <a:srgbClr val="D6454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5782932" y="3185160"/>
                <a:ext cx="1273835" cy="1029652"/>
                <a:chOff x="5782932" y="3185160"/>
                <a:chExt cx="1273835" cy="1029652"/>
              </a:xfrm>
            </p:grpSpPr>
            <p:sp>
              <p:nvSpPr>
                <p:cNvPr id="29" name="Ellipse 29"/>
                <p:cNvSpPr/>
                <p:nvPr/>
              </p:nvSpPr>
              <p:spPr>
                <a:xfrm>
                  <a:off x="6248400" y="3505200"/>
                  <a:ext cx="342900" cy="34290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163B66"/>
                  </a:solidFill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339111" y="3636645"/>
                  <a:ext cx="16147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163B66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v5</a:t>
                  </a:r>
                  <a:endParaRPr lang="en-US" sz="9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782932" y="3185160"/>
                  <a:ext cx="1273835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F2937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Recursive LGBM</a:t>
                  </a:r>
                  <a:endParaRPr lang="en-US" sz="1200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126480" y="4001452"/>
                  <a:ext cx="58674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6B7280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修复泄漏</a:t>
                  </a:r>
                  <a:endParaRPr lang="zh-CN" sz="105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7402182" y="3108960"/>
                <a:ext cx="1273835" cy="1105852"/>
                <a:chOff x="7402182" y="3108960"/>
                <a:chExt cx="1273835" cy="1105852"/>
              </a:xfrm>
            </p:grpSpPr>
            <p:sp>
              <p:nvSpPr>
                <p:cNvPr id="34" name="Ellipse 34"/>
                <p:cNvSpPr/>
                <p:nvPr/>
              </p:nvSpPr>
              <p:spPr>
                <a:xfrm>
                  <a:off x="7848600" y="3486150"/>
                  <a:ext cx="381000" cy="381000"/>
                </a:xfrm>
                <a:prstGeom prst="ellipse">
                  <a:avLst/>
                </a:prstGeom>
                <a:solidFill>
                  <a:srgbClr val="FFFFFF"/>
                </a:solidFill>
                <a:ln w="47625">
                  <a:solidFill>
                    <a:srgbClr val="2F80ED"/>
                  </a:solidFill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958361" y="3636645"/>
                  <a:ext cx="16147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2F80ED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v6</a:t>
                  </a:r>
                  <a:endParaRPr lang="en-US" sz="90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402182" y="3108960"/>
                  <a:ext cx="1273835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F2937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Darts Ensemble</a:t>
                  </a:r>
                  <a:endParaRPr lang="en-US" sz="1200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742755" y="4001452"/>
                  <a:ext cx="59269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2F80ED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0.38022</a:t>
                  </a:r>
                  <a:endParaRPr lang="en-US" sz="1050" b="1" dirty="0">
                    <a:solidFill>
                      <a:srgbClr val="2F80E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9619793" y="3108960"/>
                <a:ext cx="1105814" cy="1105852"/>
                <a:chOff x="9619793" y="3108960"/>
                <a:chExt cx="1105814" cy="1105852"/>
              </a:xfrm>
            </p:grpSpPr>
            <p:sp>
              <p:nvSpPr>
                <p:cNvPr id="39" name="Ellipse 39"/>
                <p:cNvSpPr/>
                <p:nvPr/>
              </p:nvSpPr>
              <p:spPr>
                <a:xfrm>
                  <a:off x="9944100" y="3448050"/>
                  <a:ext cx="457200" cy="457200"/>
                </a:xfrm>
                <a:prstGeom prst="ellipse">
                  <a:avLst/>
                </a:prstGeom>
                <a:solidFill>
                  <a:srgbClr val="163B66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0010149" y="3628549"/>
                  <a:ext cx="32510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75" b="1" dirty="0">
                      <a:solidFill>
                        <a:srgbClr val="FFFFFF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v7.3</a:t>
                  </a:r>
                  <a:endParaRPr lang="en-US" sz="975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9619793" y="3108960"/>
                  <a:ext cx="1105814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F2937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Core Holidays</a:t>
                  </a:r>
                  <a:endParaRPr lang="en-US" sz="1200" b="1" dirty="0">
                    <a:solidFill>
                      <a:srgbClr val="1F2937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9876355" y="4001452"/>
                  <a:ext cx="59269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2F80ED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0.38005</a:t>
                  </a:r>
                  <a:endParaRPr lang="en-US" sz="1050" b="1" dirty="0">
                    <a:solidFill>
                      <a:srgbClr val="2F80E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</p:grpSp>
        </p:grpSp>
      </p:grpSp>
      <p:grpSp>
        <p:nvGrpSpPr>
          <p:cNvPr id="55" name="Group 55"/>
          <p:cNvGrpSpPr/>
          <p:nvPr/>
        </p:nvGrpSpPr>
        <p:grpSpPr>
          <a:xfrm>
            <a:off x="533400" y="4629150"/>
            <a:ext cx="11125200" cy="1314450"/>
            <a:chOff x="533400" y="4629150"/>
            <a:chExt cx="11125200" cy="1314450"/>
          </a:xfrm>
        </p:grpSpPr>
        <p:sp>
          <p:nvSpPr>
            <p:cNvPr id="46" name="Rectangle 46"/>
            <p:cNvSpPr/>
            <p:nvPr/>
          </p:nvSpPr>
          <p:spPr>
            <a:xfrm>
              <a:off x="533400" y="4629150"/>
              <a:ext cx="3352800" cy="13144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19600" y="4629150"/>
              <a:ext cx="3352800" cy="13144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05800" y="4629150"/>
              <a:ext cx="3352800" cy="13144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3908" y="4872514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阶段一：基线建立</a:t>
              </a:r>
              <a:endParaRPr lang="zh-CN" sz="127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4860" y="5204460"/>
              <a:ext cx="2468880" cy="4914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v1-v3 的作用是快速确认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统计基线与外部协变量是否有价值。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670108" y="4872514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阶段二：问题修复</a:t>
              </a:r>
              <a:endParaRPr lang="zh-CN" sz="127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671060" y="5204460"/>
              <a:ext cx="1714500" cy="4914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v4-v5 的重点不是提分，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而是修正多步预测泄漏。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56308" y="4872514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阶段三：主线优化</a:t>
              </a:r>
              <a:endParaRPr lang="zh-CN" sz="127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57260" y="5204460"/>
              <a:ext cx="2651760" cy="4914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v6 以后围绕集成结构、节假日、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lags 和 transactions 做单因子实验。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3464640" cy="690562"/>
            <a:chOff x="533400" y="514350"/>
            <a:chExt cx="3464640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主线模型结构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3268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TARGET SERIES · COVARIATES · ENSEMBLE STACK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43000" y="1581150"/>
            <a:ext cx="10382250" cy="4057650"/>
            <a:chOff x="1143000" y="1581150"/>
            <a:chExt cx="10382250" cy="4057650"/>
          </a:xfrm>
        </p:grpSpPr>
        <p:sp>
          <p:nvSpPr>
            <p:cNvPr id="7" name="Rectangle 7"/>
            <p:cNvSpPr/>
            <p:nvPr/>
          </p:nvSpPr>
          <p:spPr>
            <a:xfrm>
              <a:off x="1143000" y="1581150"/>
              <a:ext cx="10382250" cy="4057650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11430">
              <a:solidFill>
                <a:srgbClr val="D9E1EA"/>
              </a:solidFill>
              <a:custDash>
                <a:ds d="500000" sp="333333"/>
              </a:custDash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08116" y="1742599"/>
              <a:ext cx="4052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PARENT CONTAINER · DARTS MULTI-SERIES FORECASTING PIPELINE</a:t>
              </a:r>
              <a:endParaRPr lang="en-US" sz="975" b="1" dirty="0">
                <a:solidFill>
                  <a:srgbClr val="2F80E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466850" y="2114550"/>
              <a:ext cx="2876550" cy="2476500"/>
              <a:chOff x="1466850" y="2114550"/>
              <a:chExt cx="2876550" cy="2476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466850" y="2114550"/>
                <a:ext cx="2876550" cy="2476500"/>
              </a:xfrm>
              <a:prstGeom prst="roundRect">
                <a:avLst>
                  <a:gd name="adj" fmla="val 5385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466850" y="2114550"/>
                <a:ext cx="5715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2F80ED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736725" y="2270125"/>
                <a:ext cx="165099" cy="165099"/>
                <a:chOff x="1736725" y="2270125"/>
                <a:chExt cx="165099" cy="165099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736725" y="2270125"/>
                  <a:ext cx="165099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82550">
                      <a:moveTo>
                        <a:pt x="82550" y="0"/>
                      </a:moveTo>
                      <a:lnTo>
                        <a:pt x="0" y="41275"/>
                      </a:lnTo>
                      <a:lnTo>
                        <a:pt x="82550" y="82550"/>
                      </a:lnTo>
                      <a:lnTo>
                        <a:pt x="165099" y="41275"/>
                      </a:ln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736725" y="2352675"/>
                  <a:ext cx="165099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41275">
                      <a:moveTo>
                        <a:pt x="0" y="0"/>
                      </a:moveTo>
                      <a:lnTo>
                        <a:pt x="82550" y="41275"/>
                      </a:lnTo>
                      <a:lnTo>
                        <a:pt x="165099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736725" y="2393949"/>
                  <a:ext cx="165099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41275">
                      <a:moveTo>
                        <a:pt x="0" y="0"/>
                      </a:moveTo>
                      <a:lnTo>
                        <a:pt x="82550" y="41275"/>
                      </a:lnTo>
                      <a:lnTo>
                        <a:pt x="165099" y="0"/>
                      </a:lnTo>
                    </a:path>
                  </a:pathLst>
                </a:custGeom>
                <a:noFill/>
                <a:ln w="19050">
                  <a:solidFill>
                    <a:srgbClr val="2F80ED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2038350" y="2257425"/>
                <a:ext cx="14347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Target Series</a:t>
                </a:r>
                <a:endParaRPr lang="en-US" sz="1500" b="1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695450" y="2724150"/>
                <a:ext cx="2419350" cy="361950"/>
              </a:xfrm>
              <a:prstGeom prst="roundRect">
                <a:avLst>
                  <a:gd name="adj" fmla="val 21053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894361" y="2832735"/>
                <a:ext cx="202152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family-wise sales series</a:t>
                </a:r>
                <a:endParaRPr lang="en-US" sz="12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80210" y="3261360"/>
                <a:ext cx="2255520" cy="7391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按</a:t>
                </a:r>
                <a:r>
                  <a:rPr lang="en-US" sz="120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family 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拆分门店销量序列，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每个 family 下再以门店形成多条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Darts TimeSeries 输入。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4400550" y="3352800"/>
              <a:ext cx="419100" cy="1"/>
            </a:xfrm>
            <a:prstGeom prst="line">
              <a:avLst/>
            </a:prstGeom>
            <a:noFill/>
            <a:ln w="28575">
              <a:solidFill>
                <a:srgbClr val="9CA3AF"/>
              </a:solidFill>
              <a:tailEnd type="triangle" w="lg" len="lg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819650" y="1962150"/>
              <a:ext cx="3383399" cy="2971800"/>
              <a:chOff x="4819650" y="1962150"/>
              <a:chExt cx="3383399" cy="29718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819650" y="1962150"/>
                <a:ext cx="3028950" cy="2781300"/>
              </a:xfrm>
              <a:prstGeom prst="roundRect">
                <a:avLst>
                  <a:gd name="adj" fmla="val 4795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819650" y="1962150"/>
                <a:ext cx="5715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27AE60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5089525" y="2107406"/>
                <a:ext cx="165099" cy="185737"/>
                <a:chOff x="5089525" y="2107406"/>
                <a:chExt cx="165099" cy="185737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5089525" y="2107406"/>
                  <a:ext cx="165099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099" y="48053"/>
                        <a:pt x="165099" y="30956"/>
                      </a:cubicBezTo>
                      <a:cubicBezTo>
                        <a:pt x="165099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089525" y="2138362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089525" y="2200275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5391150" y="2105025"/>
                <a:ext cx="114073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Covariates</a:t>
                </a:r>
                <a:endParaRPr lang="en-US" sz="1500" b="1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048250" y="2571750"/>
                <a:ext cx="25717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224462" y="2736056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static</a:t>
                </a:r>
                <a:endPara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81712" y="2736056"/>
                <a:ext cx="21213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city / state / type / cluster</a:t>
                </a:r>
                <a:endParaRPr lang="en-US" sz="112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5048250" y="3143250"/>
                <a:ext cx="25717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9525">
                <a:solidFill>
                  <a:srgbClr val="D9E1EA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224462" y="3307556"/>
                <a:ext cx="3751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past</a:t>
                </a:r>
                <a:endPara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081712" y="3307556"/>
                <a:ext cx="9811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transactions</a:t>
                </a:r>
                <a:endParaRPr lang="en-US" sz="112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048250" y="3714750"/>
                <a:ext cx="25717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9525">
                <a:solidFill>
                  <a:srgbClr val="D9E1EA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224462" y="3879056"/>
                <a:ext cx="54839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future</a:t>
                </a:r>
                <a:endPara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81712" y="3879056"/>
                <a:ext cx="1486535" cy="3473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oil / onpromotion / </a:t>
                </a:r>
                <a:endParaRPr lang="en-US" sz="112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/>
                <a:r>
                  <a:rPr lang="en-US" sz="1125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date features / holidays</a:t>
                </a:r>
                <a:endParaRPr lang="en-US" sz="112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081395" y="4535487"/>
                <a:ext cx="1271905" cy="322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B728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future_ma_cols = oil, </a:t>
                </a:r>
                <a:endParaRPr lang="en-US" sz="1050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/>
                <a:r>
                  <a:rPr lang="en-US" sz="1050" dirty="0">
                    <a:solidFill>
                      <a:srgbClr val="6B728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onpromotion</a:t>
                </a:r>
                <a:endParaRPr lang="en-US" sz="1050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7905750" y="3352800"/>
              <a:ext cx="419100" cy="1"/>
            </a:xfrm>
            <a:prstGeom prst="line">
              <a:avLst/>
            </a:prstGeom>
            <a:noFill/>
            <a:ln w="28575">
              <a:solidFill>
                <a:srgbClr val="9CA3AF"/>
              </a:solidFill>
              <a:tailEnd type="triangle" w="lg" len="lg"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324850" y="1847850"/>
              <a:ext cx="2857500" cy="3009900"/>
              <a:chOff x="8324850" y="1847850"/>
              <a:chExt cx="2857500" cy="30099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324850" y="1847850"/>
                <a:ext cx="2857500" cy="3009900"/>
              </a:xfrm>
              <a:prstGeom prst="roundRect">
                <a:avLst>
                  <a:gd name="adj" fmla="val 4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8324850" y="1847850"/>
                <a:ext cx="5715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163B66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8584406" y="2003425"/>
                <a:ext cx="185737" cy="174624"/>
                <a:chOff x="8584406" y="2003425"/>
                <a:chExt cx="185737" cy="174624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8584406" y="2085975"/>
                  <a:ext cx="61912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82550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2" y="0"/>
                        <a:pt x="61912" y="4620"/>
                        <a:pt x="61912" y="10319"/>
                      </a:cubicBezTo>
                      <a:lnTo>
                        <a:pt x="61912" y="72231"/>
                      </a:lnTo>
                      <a:cubicBezTo>
                        <a:pt x="61912" y="77930"/>
                        <a:pt x="57292" y="82550"/>
                        <a:pt x="51594" y="82550"/>
                      </a:cubicBezTo>
                      <a:lnTo>
                        <a:pt x="10319" y="82550"/>
                      </a:lnTo>
                      <a:cubicBezTo>
                        <a:pt x="4620" y="82550"/>
                        <a:pt x="0" y="77930"/>
                        <a:pt x="0" y="72231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163B66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8708231" y="2044700"/>
                  <a:ext cx="61912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123825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2" y="0"/>
                        <a:pt x="61912" y="4620"/>
                        <a:pt x="61912" y="10319"/>
                      </a:cubicBezTo>
                      <a:lnTo>
                        <a:pt x="61912" y="113506"/>
                      </a:lnTo>
                      <a:cubicBezTo>
                        <a:pt x="61912" y="119205"/>
                        <a:pt x="57292" y="123825"/>
                        <a:pt x="51594" y="123825"/>
                      </a:cubicBezTo>
                      <a:lnTo>
                        <a:pt x="10319" y="123825"/>
                      </a:lnTo>
                      <a:cubicBezTo>
                        <a:pt x="4620" y="123825"/>
                        <a:pt x="0" y="119205"/>
                        <a:pt x="0" y="113506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163B66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646318" y="2003425"/>
                  <a:ext cx="61912" cy="165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165099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2" y="0"/>
                        <a:pt x="61912" y="4620"/>
                        <a:pt x="61912" y="10319"/>
                      </a:cubicBezTo>
                      <a:lnTo>
                        <a:pt x="61912" y="154781"/>
                      </a:lnTo>
                      <a:cubicBezTo>
                        <a:pt x="61912" y="160480"/>
                        <a:pt x="57292" y="165099"/>
                        <a:pt x="51594" y="165099"/>
                      </a:cubicBezTo>
                      <a:lnTo>
                        <a:pt x="10319" y="165099"/>
                      </a:lnTo>
                      <a:cubicBezTo>
                        <a:pt x="4620" y="165099"/>
                        <a:pt x="0" y="160480"/>
                        <a:pt x="0" y="154781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163B66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594725" y="2168524"/>
                  <a:ext cx="1444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9525">
                      <a:moveTo>
                        <a:pt x="0" y="0"/>
                      </a:moveTo>
                      <a:lnTo>
                        <a:pt x="144462" y="0"/>
                      </a:lnTo>
                    </a:path>
                  </a:pathLst>
                </a:custGeom>
                <a:noFill/>
                <a:ln w="19050">
                  <a:solidFill>
                    <a:srgbClr val="163B66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8896350" y="1990725"/>
                <a:ext cx="9517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Ensemble</a:t>
                </a:r>
                <a:endParaRPr lang="en-US" sz="1500" b="1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538210" y="2461260"/>
                <a:ext cx="24787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4 组 LightGBMModel，不同</a:t>
                </a:r>
                <a:r>
                  <a:rPr lang="en-US" sz="1200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en-US" sz="120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lags</a:t>
                </a:r>
                <a:endParaRPr lang="en-US" sz="1200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538210" y="2918460"/>
                <a:ext cx="20467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4 组 XGBModel，不同</a:t>
                </a:r>
                <a:r>
                  <a:rPr lang="en-US" sz="1200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en-US" sz="120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lags</a:t>
                </a:r>
                <a:endParaRPr lang="en-US" sz="1200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538210" y="3375660"/>
                <a:ext cx="22467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每个模型分支做两轮预测平均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538210" y="3832860"/>
                <a:ext cx="217474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最终按</a:t>
                </a:r>
                <a:r>
                  <a:rPr lang="en-US" sz="120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0.40 / 0.60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加权融合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8553450" y="4267200"/>
                <a:ext cx="24003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896582" y="4393406"/>
                <a:ext cx="171403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63B6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输出未来 16 天销量预测</a:t>
                </a:r>
                <a:endParaRPr lang="zh-CN" sz="112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56" name="TextBox 56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4853964" cy="690562"/>
            <a:chOff x="533400" y="514350"/>
            <a:chExt cx="4853964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附录：数据画像补充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46577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DATA PROFILE SNAPSHOTS · FIELD DISTRIBUTIONS · AUXILIARY TABLES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447800"/>
            <a:ext cx="4007168" cy="4857750"/>
            <a:chOff x="533400" y="1447800"/>
            <a:chExt cx="4007168" cy="4857750"/>
          </a:xfrm>
        </p:grpSpPr>
        <p:sp>
          <p:nvSpPr>
            <p:cNvPr id="7" name="Rectangle 7"/>
            <p:cNvSpPr/>
            <p:nvPr/>
          </p:nvSpPr>
          <p:spPr>
            <a:xfrm>
              <a:off x="533400" y="1447800"/>
              <a:ext cx="2971800" cy="4857750"/>
            </a:xfrm>
            <a:prstGeom prst="roundRect">
              <a:avLst>
                <a:gd name="adj" fmla="val 448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2002" y="1732121"/>
              <a:ext cx="18319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这页补充的数据观察</a:t>
              </a:r>
              <a:endParaRPr lang="zh-CN" sz="142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3908" y="2129314"/>
              <a:ext cx="217789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1. </a:t>
              </a:r>
              <a:r>
                <a:rPr lang="en-US" sz="1275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train.csv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规模最大，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 300 万行，是主训练面板。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3908" y="2796064"/>
              <a:ext cx="2930843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 </a:t>
              </a:r>
              <a:r>
                <a:rPr lang="en-US" sz="1275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test.csv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只覆盖未来 </a:t>
              </a:r>
              <a:r>
                <a:rPr lang="zh-CN" sz="1275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16 天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结构和 train 基本一致，只缺少 sales。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3908" y="3462814"/>
              <a:ext cx="3756660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3. </a:t>
              </a:r>
              <a:r>
                <a:rPr lang="en-US" sz="1275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stores / transactions / oil / holidays</a:t>
              </a:r>
              <a:endParaRPr lang="en-US" sz="1275" b="1" dirty="0">
                <a:solidFill>
                  <a:srgbClr val="2F80E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分别提供门店静态属性、客流、油价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和节假日信息。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4225" y="4262755"/>
              <a:ext cx="2819400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 从分布图上可以看出，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销量和促销都呈现明显长尾，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这也是后面做 </a:t>
              </a:r>
              <a:r>
                <a:rPr lang="en-US" sz="1275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log1p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和多模型集成的原因之一。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91540" y="5567045"/>
              <a:ext cx="2438400" cy="666750"/>
            </a:xfrm>
            <a:prstGeom prst="roundRect">
              <a:avLst>
                <a:gd name="adj" fmla="val 17143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6312" y="55554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一句话总结</a:t>
              </a:r>
              <a:endParaRPr lang="zh-CN" sz="112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7265" y="58112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主表大、辅表多、分布偏态强，</a:t>
              </a:r>
              <a:endPara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7265" y="602075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所以预处理和协变量治理非常关键。</a:t>
              </a:r>
              <a:endPara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733800" y="1447800"/>
            <a:ext cx="3733800" cy="1948339"/>
            <a:chOff x="3733800" y="1447800"/>
            <a:chExt cx="3733800" cy="1948339"/>
          </a:xfrm>
        </p:grpSpPr>
        <p:sp>
          <p:nvSpPr>
            <p:cNvPr id="18" name="Rectangle 18"/>
            <p:cNvSpPr/>
            <p:nvPr/>
          </p:nvSpPr>
          <p:spPr>
            <a:xfrm>
              <a:off x="3733800" y="1447800"/>
              <a:ext cx="37338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28110" y="1623060"/>
              <a:ext cx="820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train.csv</a:t>
              </a:r>
              <a:endParaRPr lang="en-US" sz="1200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43350" y="2032593"/>
              <a:ext cx="3314700" cy="925913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3930968" y="3095149"/>
              <a:ext cx="2952750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训练主表：日期范围 2013-01-01 到 2017-08-15，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 id、date、store、family、sales、onpromotion。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96200" y="1447800"/>
            <a:ext cx="3962400" cy="1948339"/>
            <a:chOff x="7696200" y="1447800"/>
            <a:chExt cx="3962400" cy="1948339"/>
          </a:xfrm>
        </p:grpSpPr>
        <p:sp>
          <p:nvSpPr>
            <p:cNvPr id="23" name="Rectangle 23"/>
            <p:cNvSpPr/>
            <p:nvPr/>
          </p:nvSpPr>
          <p:spPr>
            <a:xfrm>
              <a:off x="7696200" y="1447800"/>
              <a:ext cx="39624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90510" y="1623060"/>
              <a:ext cx="769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test.csv</a:t>
              </a:r>
              <a:endParaRPr lang="en-US" sz="1200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5750" y="2014593"/>
              <a:ext cx="3543300" cy="961914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7893368" y="3095149"/>
              <a:ext cx="2529840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测试集保持同样粒度，但没有 sales，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需要预测 2017-08-16 到 2017-08-31 的结果。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33800" y="3543300"/>
            <a:ext cx="3733800" cy="1276350"/>
            <a:chOff x="3733800" y="3543300"/>
            <a:chExt cx="3733800" cy="1276350"/>
          </a:xfrm>
        </p:grpSpPr>
        <p:sp>
          <p:nvSpPr>
            <p:cNvPr id="28" name="Rectangle 28"/>
            <p:cNvSpPr/>
            <p:nvPr/>
          </p:nvSpPr>
          <p:spPr>
            <a:xfrm>
              <a:off x="3733800" y="3543300"/>
              <a:ext cx="3733800" cy="1276350"/>
            </a:xfrm>
            <a:prstGeom prst="roundRect">
              <a:avLst>
                <a:gd name="adj" fmla="val 104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29062" y="3707606"/>
              <a:ext cx="8949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stores.csv</a:t>
              </a:r>
              <a:endParaRPr lang="en-US" sz="112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74573" y="3905250"/>
              <a:ext cx="2452255" cy="6858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3930968" y="4619149"/>
              <a:ext cx="28721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门店静态属性：城市、州、省份类型和 cluster。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96200" y="3543300"/>
            <a:ext cx="3962400" cy="1276350"/>
            <a:chOff x="7696200" y="3543300"/>
            <a:chExt cx="3962400" cy="1276350"/>
          </a:xfrm>
        </p:grpSpPr>
        <p:sp>
          <p:nvSpPr>
            <p:cNvPr id="33" name="Rectangle 33"/>
            <p:cNvSpPr/>
            <p:nvPr/>
          </p:nvSpPr>
          <p:spPr>
            <a:xfrm>
              <a:off x="7696200" y="3543300"/>
              <a:ext cx="3962400" cy="1276350"/>
            </a:xfrm>
            <a:prstGeom prst="roundRect">
              <a:avLst>
                <a:gd name="adj" fmla="val 104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91462" y="3707606"/>
              <a:ext cx="13753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transactions.csv</a:t>
              </a:r>
              <a:endParaRPr lang="en-US" sz="112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64824" y="3905250"/>
              <a:ext cx="2625152" cy="6858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7893368" y="4619149"/>
              <a:ext cx="2885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交易笔数分布右偏明显，是很重要的过去协变量。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733800" y="5048250"/>
            <a:ext cx="7924800" cy="1338739"/>
            <a:chOff x="3733800" y="5048250"/>
            <a:chExt cx="7924800" cy="1338739"/>
          </a:xfrm>
        </p:grpSpPr>
        <p:sp>
          <p:nvSpPr>
            <p:cNvPr id="38" name="Rectangle 38"/>
            <p:cNvSpPr/>
            <p:nvPr/>
          </p:nvSpPr>
          <p:spPr>
            <a:xfrm>
              <a:off x="3733800" y="5048250"/>
              <a:ext cx="2457450" cy="1257300"/>
            </a:xfrm>
            <a:prstGeom prst="roundRect">
              <a:avLst>
                <a:gd name="adj" fmla="val 1060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929062" y="5212556"/>
              <a:ext cx="5562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oil.csv</a:t>
              </a:r>
              <a:endParaRPr lang="en-US" sz="112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43350" y="5467330"/>
              <a:ext cx="2038350" cy="533441"/>
            </a:xfrm>
            <a:prstGeom prst="rect">
              <a:avLst/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3930968" y="60859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外部经济变量，后续做了全日期插值。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38900" y="5048250"/>
              <a:ext cx="2609850" cy="1257300"/>
            </a:xfrm>
            <a:prstGeom prst="roundRect">
              <a:avLst>
                <a:gd name="adj" fmla="val 1060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34162" y="5212556"/>
              <a:ext cx="1595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holidays_events.csv</a:t>
              </a:r>
              <a:endParaRPr lang="en-US" sz="112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48450" y="5429270"/>
              <a:ext cx="2190750" cy="609560"/>
            </a:xfrm>
            <a:prstGeom prst="rect">
              <a:avLst/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6636068" y="6085999"/>
              <a:ext cx="1866900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节假日类型很多，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后续只保留稳定有效的核心节日。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296400" y="5048250"/>
              <a:ext cx="2362200" cy="1257300"/>
            </a:xfrm>
            <a:prstGeom prst="roundRect">
              <a:avLst>
                <a:gd name="adj" fmla="val 1060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91662" y="5212556"/>
              <a:ext cx="1792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sample_submission.csv</a:t>
              </a:r>
              <a:endParaRPr lang="en-US" sz="1125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05950" y="5471160"/>
              <a:ext cx="1943100" cy="525780"/>
            </a:xfrm>
            <a:prstGeom prst="rect">
              <a:avLst/>
            </a:prstGeom>
          </p:spPr>
        </p:pic>
        <p:sp>
          <p:nvSpPr>
            <p:cNvPr id="49" name="TextBox 49"/>
            <p:cNvSpPr txBox="1"/>
            <p:nvPr/>
          </p:nvSpPr>
          <p:spPr>
            <a:xfrm>
              <a:off x="9493568" y="6085999"/>
              <a:ext cx="20465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最终提交只保留 id 和 sales 两列。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46050" y="64098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5295019" cy="690562"/>
            <a:chOff x="533400" y="514350"/>
            <a:chExt cx="5295019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363521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数据预处理与特征工程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50988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PANEL COMPLETION · INTERPOLATION · HOLIDAY CLEANING · TIME FEATURES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1485900"/>
            <a:ext cx="5372100" cy="4495800"/>
            <a:chOff x="533400" y="1485900"/>
            <a:chExt cx="5372100" cy="4495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72100" cy="4495800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1055" y="17973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主线预处理流程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38200" y="2209800"/>
              <a:ext cx="4762500" cy="609600"/>
              <a:chOff x="838200" y="2209800"/>
              <a:chExt cx="4762500" cy="6096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38200" y="2209800"/>
                <a:ext cx="4762500" cy="609600"/>
              </a:xfrm>
              <a:prstGeom prst="roundRect">
                <a:avLst>
                  <a:gd name="adj" fmla="val 18750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50608" y="2434114"/>
                <a:ext cx="383491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1. 补齐训练面板缺失日期与 store-family 组合</a:t>
                </a:r>
                <a:endParaRPr lang="zh-CN" sz="127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38200" y="2933700"/>
              <a:ext cx="4762500" cy="609600"/>
              <a:chOff x="838200" y="2933700"/>
              <a:chExt cx="4762500" cy="6096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838200" y="2933700"/>
                <a:ext cx="4762500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D9E1EA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50608" y="3158014"/>
                <a:ext cx="28530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2. sales 与 onpromotion 缺失补零</a:t>
                </a:r>
                <a:endParaRPr lang="zh-CN" sz="127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38200" y="3657600"/>
              <a:ext cx="4762500" cy="609600"/>
              <a:chOff x="838200" y="3657600"/>
              <a:chExt cx="4762500" cy="6096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38200" y="3657600"/>
                <a:ext cx="4762500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D9E1EA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50608" y="3881914"/>
                <a:ext cx="369209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3. oil 全日期插值，transactions 按门店插值</a:t>
                </a:r>
                <a:endParaRPr lang="zh-CN" sz="127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38200" y="4381500"/>
              <a:ext cx="4762500" cy="609600"/>
              <a:chOff x="838200" y="4381500"/>
              <a:chExt cx="4762500" cy="6096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38200" y="4381500"/>
                <a:ext cx="4762500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D9E1EA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50608" y="4605814"/>
                <a:ext cx="361175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4. 清洗节假日描述，剔除 transferred 假日</a:t>
                </a:r>
                <a:endParaRPr lang="zh-CN" sz="127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38200" y="5105400"/>
              <a:ext cx="4762500" cy="609600"/>
              <a:chOff x="838200" y="5105400"/>
              <a:chExt cx="4762500" cy="6096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38200" y="5105400"/>
                <a:ext cx="4762500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D9E1EA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50608" y="5329714"/>
                <a:ext cx="331719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5. 合并多表并构造时间索引与节假日特征</a:t>
                </a:r>
                <a:endParaRPr lang="zh-CN" sz="127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286500" y="1485900"/>
            <a:ext cx="5372100" cy="4495800"/>
            <a:chOff x="6286500" y="1485900"/>
            <a:chExt cx="5372100" cy="44958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485900"/>
              <a:ext cx="5372100" cy="4495800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74155" y="1797368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最终进入模型的特征类型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91300" y="2209800"/>
              <a:ext cx="4762500" cy="876300"/>
            </a:xfrm>
            <a:prstGeom prst="roundRect">
              <a:avLst>
                <a:gd name="adj" fmla="val 13043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42760" y="240411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time features</a:t>
              </a:r>
              <a:endParaRPr lang="en-US" sz="1200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42760" y="2670810"/>
              <a:ext cx="3093085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day, month, year, day_of_week, day_of_year, </a:t>
              </a:r>
              <a:endParaRPr lang="en-US" sz="1200" dirty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/>
              <a:r>
                <a:rPr lang="en-US" sz="1200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week_of_year, date_index</a:t>
              </a:r>
              <a:endParaRPr lang="en-US" sz="1200" dirty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91300" y="3238500"/>
              <a:ext cx="47625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9E1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42760" y="3394710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market signals</a:t>
              </a:r>
              <a:endParaRPr lang="en-US" sz="1200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42760" y="3642360"/>
              <a:ext cx="24627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oil, onpromotion, transactions</a:t>
              </a:r>
              <a:endParaRPr lang="en-US" sz="1200" dirty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91300" y="4076700"/>
              <a:ext cx="47625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9E1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42760" y="4232910"/>
              <a:ext cx="13830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holiday features</a:t>
              </a:r>
              <a:endParaRPr lang="en-US" sz="1200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42760" y="4480560"/>
              <a:ext cx="2958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work_day + selected national holidays</a:t>
              </a:r>
              <a:endParaRPr lang="en-US" sz="1200" dirty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91300" y="4914900"/>
              <a:ext cx="47625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E1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42760" y="5090160"/>
              <a:ext cx="147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design implication</a:t>
              </a:r>
              <a:endParaRPr lang="en-US" sz="1200" b="1" dirty="0">
                <a:solidFill>
                  <a:srgbClr val="163B6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42760" y="5200650"/>
              <a:ext cx="32308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模型质量并不只取决于算法本身，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更取决于原始面板是否规整、协变量是否对齐。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5236212" cy="690562"/>
            <a:chOff x="533400" y="514350"/>
            <a:chExt cx="5236212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项目中的主流技术栈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50399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PYTHON · PANDAS / NUMPY · LIGHTGBM / XGBOOST · DARTS / SCIKIT-LEARN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>
            <p:custDataLst>
              <p:tags r:id="rId1"/>
            </p:custDataLst>
          </p:nvPr>
        </p:nvGrpSpPr>
        <p:grpSpPr>
          <a:xfrm>
            <a:off x="533400" y="1619250"/>
            <a:ext cx="2609850" cy="2019300"/>
            <a:chOff x="533400" y="1619250"/>
            <a:chExt cx="2609850" cy="2019300"/>
          </a:xfrm>
        </p:grpSpPr>
        <p:sp>
          <p:nvSpPr>
            <p:cNvPr id="7" name="Rectangle 7"/>
            <p:cNvSpPr/>
            <p:nvPr>
              <p:custDataLst>
                <p:tags r:id="rId2"/>
              </p:custDataLst>
            </p:nvPr>
          </p:nvSpPr>
          <p:spPr>
            <a:xfrm>
              <a:off x="533400" y="1619250"/>
              <a:ext cx="2609850" cy="2019300"/>
            </a:xfrm>
            <a:prstGeom prst="roundRect">
              <a:avLst>
                <a:gd name="adj" fmla="val 6604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3438" y="1930400"/>
              <a:ext cx="200025" cy="177801"/>
              <a:chOff x="833438" y="1930400"/>
              <a:chExt cx="200025" cy="177801"/>
            </a:xfrm>
          </p:grpSpPr>
          <p:sp>
            <p:nvSpPr>
              <p:cNvPr id="8" name="Freeform 8"/>
              <p:cNvSpPr/>
              <p:nvPr>
                <p:custDataLst>
                  <p:tags r:id="rId3"/>
                </p:custDataLst>
              </p:nvPr>
            </p:nvSpPr>
            <p:spPr>
              <a:xfrm>
                <a:off x="833438" y="1974850"/>
                <a:ext cx="444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88900">
                    <a:moveTo>
                      <a:pt x="44450" y="0"/>
                    </a:moveTo>
                    <a:lnTo>
                      <a:pt x="0" y="44450"/>
                    </a:lnTo>
                    <a:lnTo>
                      <a:pt x="44450" y="8890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9" name="Freeform 9"/>
              <p:cNvSpPr/>
              <p:nvPr>
                <p:custDataLst>
                  <p:tags r:id="rId4"/>
                </p:custDataLst>
              </p:nvPr>
            </p:nvSpPr>
            <p:spPr>
              <a:xfrm>
                <a:off x="989013" y="1974850"/>
                <a:ext cx="444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88900">
                    <a:moveTo>
                      <a:pt x="0" y="0"/>
                    </a:moveTo>
                    <a:lnTo>
                      <a:pt x="44450" y="44450"/>
                    </a:ln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0" name="Freeform 10"/>
              <p:cNvSpPr/>
              <p:nvPr>
                <p:custDataLst>
                  <p:tags r:id="rId5"/>
                </p:custDataLst>
              </p:nvPr>
            </p:nvSpPr>
            <p:spPr>
              <a:xfrm>
                <a:off x="911225" y="1930400"/>
                <a:ext cx="44450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177801">
                    <a:moveTo>
                      <a:pt x="44450" y="0"/>
                    </a:moveTo>
                    <a:lnTo>
                      <a:pt x="0" y="177801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12" name="TextBox 12"/>
            <p:cNvSpPr txBox="1"/>
            <p:nvPr>
              <p:custDataLst>
                <p:tags r:id="rId6"/>
              </p:custDataLst>
            </p:nvPr>
          </p:nvSpPr>
          <p:spPr>
            <a:xfrm>
              <a:off x="1181100" y="1933575"/>
              <a:ext cx="7311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Python</a:t>
              </a:r>
              <a:endParaRPr lang="en-US" sz="1500" b="1" dirty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7"/>
              </p:custDataLst>
            </p:nvPr>
          </p:nvSpPr>
          <p:spPr>
            <a:xfrm>
              <a:off x="784860" y="2385060"/>
              <a:ext cx="185928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整体实验与建模语言，负责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数据处理、训练、预测、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提交导出与版本迭代。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>
            <p:custDataLst>
              <p:tags r:id="rId8"/>
            </p:custDataLst>
          </p:nvPr>
        </p:nvGrpSpPr>
        <p:grpSpPr>
          <a:xfrm>
            <a:off x="3314700" y="1619250"/>
            <a:ext cx="2609850" cy="2019300"/>
            <a:chOff x="3314700" y="1619250"/>
            <a:chExt cx="2609850" cy="2019300"/>
          </a:xfrm>
        </p:grpSpPr>
        <p:sp>
          <p:nvSpPr>
            <p:cNvPr id="15" name="Rectangle 15"/>
            <p:cNvSpPr/>
            <p:nvPr>
              <p:custDataLst>
                <p:tags r:id="rId9"/>
              </p:custDataLst>
            </p:nvPr>
          </p:nvSpPr>
          <p:spPr>
            <a:xfrm>
              <a:off x="3314700" y="1619250"/>
              <a:ext cx="2609850" cy="2019300"/>
            </a:xfrm>
            <a:prstGeom prst="roundRect">
              <a:avLst>
                <a:gd name="adj" fmla="val 6604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625850" y="1919288"/>
              <a:ext cx="177801" cy="200025"/>
              <a:chOff x="3625850" y="1919288"/>
              <a:chExt cx="177801" cy="200025"/>
            </a:xfrm>
          </p:grpSpPr>
          <p:sp>
            <p:nvSpPr>
              <p:cNvPr id="16" name="Freeform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3625850" y="19192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7" name="Freeform 17"/>
              <p:cNvSpPr/>
              <p:nvPr>
                <p:custDataLst>
                  <p:tags r:id="rId11"/>
                </p:custDataLst>
              </p:nvPr>
            </p:nvSpPr>
            <p:spPr>
              <a:xfrm>
                <a:off x="3625850" y="19526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8" name="Freeform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3625850" y="20193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20" name="TextBox 20"/>
            <p:cNvSpPr txBox="1"/>
            <p:nvPr>
              <p:custDataLst>
                <p:tags r:id="rId13"/>
              </p:custDataLst>
            </p:nvPr>
          </p:nvSpPr>
          <p:spPr>
            <a:xfrm>
              <a:off x="3962400" y="1933575"/>
              <a:ext cx="15922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pandas / numpy</a:t>
              </a:r>
              <a:endParaRPr lang="en-US" sz="1500" b="1" dirty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4"/>
              </p:custDataLst>
            </p:nvPr>
          </p:nvSpPr>
          <p:spPr>
            <a:xfrm>
              <a:off x="3566160" y="2385060"/>
              <a:ext cx="216408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负责表格清洗、时间字段转换、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缺失值补齐、插值、分组聚合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以及基础数值运算。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7" name="Group 37"/>
          <p:cNvGrpSpPr/>
          <p:nvPr>
            <p:custDataLst>
              <p:tags r:id="rId15"/>
            </p:custDataLst>
          </p:nvPr>
        </p:nvGrpSpPr>
        <p:grpSpPr>
          <a:xfrm>
            <a:off x="6096000" y="1619250"/>
            <a:ext cx="2649545" cy="2019300"/>
            <a:chOff x="6096000" y="1619250"/>
            <a:chExt cx="2649545" cy="2019300"/>
          </a:xfrm>
        </p:grpSpPr>
        <p:sp>
          <p:nvSpPr>
            <p:cNvPr id="23" name="Rectangle 23"/>
            <p:cNvSpPr/>
            <p:nvPr>
              <p:custDataLst>
                <p:tags r:id="rId16"/>
              </p:custDataLst>
            </p:nvPr>
          </p:nvSpPr>
          <p:spPr>
            <a:xfrm>
              <a:off x="6096000" y="1619250"/>
              <a:ext cx="2609850" cy="2019300"/>
            </a:xfrm>
            <a:prstGeom prst="roundRect">
              <a:avLst>
                <a:gd name="adj" fmla="val 6604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396038" y="1919288"/>
              <a:ext cx="200025" cy="200025"/>
              <a:chOff x="6396038" y="1919288"/>
              <a:chExt cx="200025" cy="200025"/>
            </a:xfrm>
          </p:grpSpPr>
          <p:sp>
            <p:nvSpPr>
              <p:cNvPr id="24" name="Freeform 24"/>
              <p:cNvSpPr/>
              <p:nvPr>
                <p:custDataLst>
                  <p:tags r:id="rId17"/>
                </p:custDataLst>
              </p:nvPr>
            </p:nvSpPr>
            <p:spPr>
              <a:xfrm>
                <a:off x="6418263" y="1941513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3"/>
                    </a:cubicBezTo>
                    <a:lnTo>
                      <a:pt x="155575" y="144463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5" name="Freeform 25"/>
              <p:cNvSpPr/>
              <p:nvPr>
                <p:custDataLst>
                  <p:tags r:id="rId18"/>
                </p:custDataLst>
              </p:nvPr>
            </p:nvSpPr>
            <p:spPr>
              <a:xfrm>
                <a:off x="6462713" y="19859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6" name="Freeform 26"/>
              <p:cNvSpPr/>
              <p:nvPr>
                <p:custDataLst>
                  <p:tags r:id="rId19"/>
                </p:custDataLst>
              </p:nvPr>
            </p:nvSpPr>
            <p:spPr>
              <a:xfrm>
                <a:off x="6396038" y="19970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7" name="Freeform 27"/>
              <p:cNvSpPr/>
              <p:nvPr>
                <p:custDataLst>
                  <p:tags r:id="rId20"/>
                </p:custDataLst>
              </p:nvPr>
            </p:nvSpPr>
            <p:spPr>
              <a:xfrm>
                <a:off x="6396038" y="20415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8" name="Freeform 28"/>
              <p:cNvSpPr/>
              <p:nvPr>
                <p:custDataLst>
                  <p:tags r:id="rId21"/>
                </p:custDataLst>
              </p:nvPr>
            </p:nvSpPr>
            <p:spPr>
              <a:xfrm>
                <a:off x="6473825" y="191928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9" name="Freeform 29"/>
              <p:cNvSpPr/>
              <p:nvPr>
                <p:custDataLst>
                  <p:tags r:id="rId22"/>
                </p:custDataLst>
              </p:nvPr>
            </p:nvSpPr>
            <p:spPr>
              <a:xfrm>
                <a:off x="6518275" y="191928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30" name="Freeform 30"/>
              <p:cNvSpPr/>
              <p:nvPr>
                <p:custDataLst>
                  <p:tags r:id="rId23"/>
                </p:custDataLst>
              </p:nvPr>
            </p:nvSpPr>
            <p:spPr>
              <a:xfrm>
                <a:off x="6573838" y="19970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31" name="Freeform 31"/>
              <p:cNvSpPr/>
              <p:nvPr>
                <p:custDataLst>
                  <p:tags r:id="rId24"/>
                </p:custDataLst>
              </p:nvPr>
            </p:nvSpPr>
            <p:spPr>
              <a:xfrm>
                <a:off x="6573838" y="20415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32" name="Freeform 32"/>
              <p:cNvSpPr/>
              <p:nvPr>
                <p:custDataLst>
                  <p:tags r:id="rId25"/>
                </p:custDataLst>
              </p:nvPr>
            </p:nvSpPr>
            <p:spPr>
              <a:xfrm>
                <a:off x="6518275" y="209708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33" name="Freeform 33"/>
              <p:cNvSpPr/>
              <p:nvPr>
                <p:custDataLst>
                  <p:tags r:id="rId26"/>
                </p:custDataLst>
              </p:nvPr>
            </p:nvSpPr>
            <p:spPr>
              <a:xfrm>
                <a:off x="6473825" y="209708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35" name="TextBox 35"/>
            <p:cNvSpPr txBox="1"/>
            <p:nvPr>
              <p:custDataLst>
                <p:tags r:id="rId27"/>
              </p:custDataLst>
            </p:nvPr>
          </p:nvSpPr>
          <p:spPr>
            <a:xfrm>
              <a:off x="6743700" y="1933575"/>
              <a:ext cx="20018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LightGBM / XGBoost</a:t>
              </a:r>
              <a:endParaRPr lang="en-US" sz="1500" b="1" dirty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>
              <p:custDataLst>
                <p:tags r:id="rId28"/>
              </p:custDataLst>
            </p:nvPr>
          </p:nvSpPr>
          <p:spPr>
            <a:xfrm>
              <a:off x="6347460" y="2385060"/>
              <a:ext cx="185928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作为主力树模型，负责处理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lag 特征、非线性关系和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最终多分支融合。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>
            <p:custDataLst>
              <p:tags r:id="rId29"/>
            </p:custDataLst>
          </p:nvPr>
        </p:nvGrpSpPr>
        <p:grpSpPr>
          <a:xfrm>
            <a:off x="8877300" y="1619250"/>
            <a:ext cx="2781300" cy="2019300"/>
            <a:chOff x="8877300" y="1619250"/>
            <a:chExt cx="2781300" cy="2019300"/>
          </a:xfrm>
        </p:grpSpPr>
        <p:sp>
          <p:nvSpPr>
            <p:cNvPr id="38" name="Rectangle 38"/>
            <p:cNvSpPr/>
            <p:nvPr>
              <p:custDataLst>
                <p:tags r:id="rId30"/>
              </p:custDataLst>
            </p:nvPr>
          </p:nvSpPr>
          <p:spPr>
            <a:xfrm>
              <a:off x="8877300" y="1619250"/>
              <a:ext cx="2781300" cy="2019300"/>
            </a:xfrm>
            <a:prstGeom prst="roundRect">
              <a:avLst>
                <a:gd name="adj" fmla="val 6604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188450" y="1930400"/>
              <a:ext cx="177801" cy="177801"/>
              <a:chOff x="9188450" y="1930400"/>
              <a:chExt cx="177801" cy="177801"/>
            </a:xfrm>
          </p:grpSpPr>
          <p:sp>
            <p:nvSpPr>
              <p:cNvPr id="39" name="Freeform 39"/>
              <p:cNvSpPr/>
              <p:nvPr>
                <p:custDataLst>
                  <p:tags r:id="rId31"/>
                </p:custDataLst>
              </p:nvPr>
            </p:nvSpPr>
            <p:spPr>
              <a:xfrm>
                <a:off x="9188450" y="1930400"/>
                <a:ext cx="177801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8900">
                    <a:moveTo>
                      <a:pt x="88900" y="0"/>
                    </a:moveTo>
                    <a:lnTo>
                      <a:pt x="0" y="44450"/>
                    </a:lnTo>
                    <a:lnTo>
                      <a:pt x="88900" y="88900"/>
                    </a:lnTo>
                    <a:lnTo>
                      <a:pt x="177801" y="44450"/>
                    </a:ln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40" name="Freeform 40"/>
              <p:cNvSpPr/>
              <p:nvPr>
                <p:custDataLst>
                  <p:tags r:id="rId32"/>
                </p:custDataLst>
              </p:nvPr>
            </p:nvSpPr>
            <p:spPr>
              <a:xfrm>
                <a:off x="9188450" y="2019300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41" name="Freeform 41"/>
              <p:cNvSpPr/>
              <p:nvPr>
                <p:custDataLst>
                  <p:tags r:id="rId33"/>
                </p:custDataLst>
              </p:nvPr>
            </p:nvSpPr>
            <p:spPr>
              <a:xfrm>
                <a:off x="9188450" y="2063751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43" name="TextBox 43"/>
            <p:cNvSpPr txBox="1"/>
            <p:nvPr>
              <p:custDataLst>
                <p:tags r:id="rId34"/>
              </p:custDataLst>
            </p:nvPr>
          </p:nvSpPr>
          <p:spPr>
            <a:xfrm>
              <a:off x="9525000" y="1933575"/>
              <a:ext cx="20858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Darts / scikit-learn</a:t>
              </a:r>
              <a:endParaRPr lang="en-US" sz="1500" b="1" dirty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TextBox 44"/>
            <p:cNvSpPr txBox="1"/>
            <p:nvPr>
              <p:custDataLst>
                <p:tags r:id="rId35"/>
              </p:custDataLst>
            </p:nvPr>
          </p:nvSpPr>
          <p:spPr>
            <a:xfrm>
              <a:off x="9128760" y="2385060"/>
              <a:ext cx="201168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统一多序列时间序列接口，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并负责编码、缩放、流水线与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协变量管理。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3400" y="4057650"/>
            <a:ext cx="11125200" cy="1543050"/>
            <a:chOff x="533400" y="4057650"/>
            <a:chExt cx="11125200" cy="1543050"/>
          </a:xfrm>
        </p:grpSpPr>
        <p:sp>
          <p:nvSpPr>
            <p:cNvPr id="46" name="Rectangle 46"/>
            <p:cNvSpPr/>
            <p:nvPr/>
          </p:nvSpPr>
          <p:spPr>
            <a:xfrm>
              <a:off x="533400" y="4057650"/>
              <a:ext cx="11125200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0102" y="4303871"/>
              <a:ext cx="264997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为什么说这些是“主流技术”？</a:t>
              </a:r>
              <a:endParaRPr lang="zh-CN" sz="142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1055" y="4712018"/>
              <a:ext cx="9858375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因为在表格型时间序列竞赛和实际业务预测任务里，常见路线通常就是：</a:t>
              </a:r>
              <a:r>
                <a:rPr lang="en-US" sz="1350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Python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负责实验环境，</a:t>
              </a:r>
              <a:r>
                <a:rPr lang="en-US" sz="1350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pandas / numpy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负责数据处理，</a:t>
              </a:r>
              <a:r>
                <a:rPr lang="en-US" sz="1350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LightGBM / XGBoost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负责强表格基线，</a:t>
              </a:r>
              <a:r>
                <a:rPr lang="en-US" sz="1350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Darts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负责更结构化的时间序列接口。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这使得课程作业的技术选择，与主流竞赛和工程实践之间是连贯的，而不是脱节的。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5611108" cy="690562"/>
            <a:chOff x="533400" y="514350"/>
            <a:chExt cx="5611108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为什么选择这些技术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54148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EFFICIENCY · MODEL FITNESS · TIME-SERIES INTERFACE · EXPERIMENT ITERATION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619250"/>
            <a:ext cx="5482590" cy="4038600"/>
            <a:chOff x="533400" y="1619250"/>
            <a:chExt cx="5482590" cy="4038600"/>
          </a:xfrm>
        </p:grpSpPr>
        <p:sp>
          <p:nvSpPr>
            <p:cNvPr id="7" name="Rectangle 7"/>
            <p:cNvSpPr/>
            <p:nvPr/>
          </p:nvSpPr>
          <p:spPr>
            <a:xfrm>
              <a:off x="533400" y="1619250"/>
              <a:ext cx="4000500" cy="40386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0102" y="18654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技术选择原则</a:t>
              </a:r>
              <a:endParaRPr lang="zh-CN" sz="142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1055" y="2292668"/>
              <a:ext cx="5194935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要能</a:t>
              </a:r>
              <a:r>
                <a: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高效处理多表数据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因为项目输入并不只是一张 train 表。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 要能</a:t>
              </a:r>
              <a:r>
                <a: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适配表格型时间序列特征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尤其是大量 lag 与 rolling 特征。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 要能</a:t>
              </a:r>
              <a:r>
                <a: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支持多序列与协变量接口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否则主线方案会非常难组织。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 要能</a:t>
              </a:r>
              <a:r>
                <a: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快速做版本实验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便于每次只改一个因子。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610100" y="1619250"/>
            <a:ext cx="7926070" cy="4038600"/>
            <a:chOff x="4610100" y="1619250"/>
            <a:chExt cx="7926070" cy="4038600"/>
          </a:xfrm>
        </p:grpSpPr>
        <p:sp>
          <p:nvSpPr>
            <p:cNvPr id="11" name="Rectangle 11"/>
            <p:cNvSpPr/>
            <p:nvPr/>
          </p:nvSpPr>
          <p:spPr>
            <a:xfrm>
              <a:off x="4610100" y="1619250"/>
              <a:ext cx="7588250" cy="4038600"/>
            </a:xfrm>
            <a:prstGeom prst="roundRect">
              <a:avLst>
                <a:gd name="adj" fmla="val 330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01602" y="1865471"/>
              <a:ext cx="20314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技术与理由的对应关系</a:t>
              </a:r>
              <a:endParaRPr lang="zh-CN" sz="1425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203508" y="2376964"/>
              <a:ext cx="7295197" cy="259080"/>
              <a:chOff x="5203508" y="2376964"/>
              <a:chExt cx="7295197" cy="25908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203508" y="2376964"/>
                <a:ext cx="21478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Python + pandas / numpy</a:t>
                </a:r>
                <a:endPara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27645" y="2385060"/>
                <a:ext cx="46710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适合快速完成清洗、插值、拼表、时间字段构造与实验脚本组织。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5219700" y="268605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203508" y="3029585"/>
              <a:ext cx="7295197" cy="273209"/>
              <a:chOff x="5203508" y="3029585"/>
              <a:chExt cx="7295197" cy="27320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203508" y="3043714"/>
                <a:ext cx="170156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LightGBM / XGBoost</a:t>
                </a:r>
                <a:endPara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67625" y="3029585"/>
                <a:ext cx="48310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对异构表格特征和非线性关系建模能力强，也适合做多组 lag 分支。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5219700" y="335280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203508" y="3674110"/>
              <a:ext cx="7332662" cy="295434"/>
              <a:chOff x="5203508" y="3674110"/>
              <a:chExt cx="7332662" cy="29543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203508" y="3710464"/>
                <a:ext cx="52332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Darts</a:t>
                </a:r>
                <a:endPara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04990" y="3674110"/>
                <a:ext cx="56311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把目标序列、静态协变量、过去协变量和未来协变量组织进统一时间序列接口。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5219700" y="401955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203508" y="4377214"/>
              <a:ext cx="7295197" cy="281146"/>
              <a:chOff x="5203508" y="4377214"/>
              <a:chExt cx="7295197" cy="281146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5203508" y="4377214"/>
                <a:ext cx="21478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scikit-learn components</a:t>
                </a:r>
                <a:endPara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07605" y="4414520"/>
                <a:ext cx="49911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负责通用预处理、编码与流水线补位，让主线方案更稳定、更标准化。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5219700" y="468630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203508" y="5043805"/>
              <a:ext cx="7210742" cy="259239"/>
              <a:chOff x="5203508" y="5043805"/>
              <a:chExt cx="7210742" cy="259239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203508" y="5043964"/>
                <a:ext cx="290659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5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Jupyter / script-based iteration</a:t>
                </a:r>
                <a:endParaRPr lang="en-US" sz="1275" b="1" dirty="0">
                  <a:solidFill>
                    <a:srgbClr val="163B6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3250" y="5043805"/>
                <a:ext cx="41910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方便记录实验链条，既能探索，也能逐步沉淀成版本脚本。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5118597" cy="690562"/>
            <a:chOff x="533400" y="514350"/>
            <a:chExt cx="5118597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这些技术在项目里的具体用法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49223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FROM FUNCTIONS TO MODULES · HOW THE STACK MAPS TO THE CODEBASE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600200"/>
            <a:ext cx="11125200" cy="1131094"/>
            <a:chOff x="533400" y="1600200"/>
            <a:chExt cx="11125200" cy="1131094"/>
          </a:xfrm>
        </p:grpSpPr>
        <p:sp>
          <p:nvSpPr>
            <p:cNvPr id="7" name="Rectangle 7"/>
            <p:cNvSpPr/>
            <p:nvPr/>
          </p:nvSpPr>
          <p:spPr>
            <a:xfrm>
              <a:off x="533400" y="1600200"/>
              <a:ext cx="111252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1055" y="18354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代码模块映射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2008" y="2224564"/>
              <a:ext cx="60936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version6/darts_ensemble.py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负责主线 Darts 集成、协变量组织与训练器封装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008" y="2472214"/>
              <a:ext cx="59831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1F29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version5/lgbm_recursive.py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负责无泄漏递推 LightGBM 方案与逐日预测逻辑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3048000"/>
            <a:ext cx="5372100" cy="2781300"/>
            <a:chOff x="533400" y="3048000"/>
            <a:chExt cx="5372100" cy="2781300"/>
          </a:xfrm>
        </p:grpSpPr>
        <p:sp>
          <p:nvSpPr>
            <p:cNvPr id="12" name="Rectangle 12"/>
            <p:cNvSpPr/>
            <p:nvPr/>
          </p:nvSpPr>
          <p:spPr>
            <a:xfrm>
              <a:off x="533400" y="3048000"/>
              <a:ext cx="5372100" cy="2781300"/>
            </a:xfrm>
            <a:prstGeom prst="roundRect">
              <a:avLst>
                <a:gd name="adj" fmla="val 4795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51694" y="3316287"/>
              <a:ext cx="154781" cy="206375"/>
              <a:chOff x="851694" y="3316287"/>
              <a:chExt cx="154781" cy="20637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51694" y="3316287"/>
                <a:ext cx="51594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41275">
                    <a:moveTo>
                      <a:pt x="0" y="0"/>
                    </a:moveTo>
                    <a:lnTo>
                      <a:pt x="51594" y="0"/>
                    </a:lnTo>
                    <a:lnTo>
                      <a:pt x="51594" y="41275"/>
                    </a:lnTo>
                    <a:lnTo>
                      <a:pt x="0" y="412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54881" y="3398837"/>
                <a:ext cx="51594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41275">
                    <a:moveTo>
                      <a:pt x="0" y="0"/>
                    </a:moveTo>
                    <a:lnTo>
                      <a:pt x="51594" y="0"/>
                    </a:lnTo>
                    <a:lnTo>
                      <a:pt x="51594" y="41275"/>
                    </a:lnTo>
                    <a:lnTo>
                      <a:pt x="0" y="412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1694" y="3481387"/>
                <a:ext cx="51594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41275">
                    <a:moveTo>
                      <a:pt x="0" y="0"/>
                    </a:moveTo>
                    <a:lnTo>
                      <a:pt x="51594" y="0"/>
                    </a:lnTo>
                    <a:lnTo>
                      <a:pt x="51594" y="41275"/>
                    </a:lnTo>
                    <a:lnTo>
                      <a:pt x="0" y="412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51694" y="3398837"/>
                <a:ext cx="51594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41275">
                    <a:moveTo>
                      <a:pt x="0" y="0"/>
                    </a:moveTo>
                    <a:lnTo>
                      <a:pt x="51594" y="0"/>
                    </a:lnTo>
                    <a:lnTo>
                      <a:pt x="51594" y="41275"/>
                    </a:lnTo>
                    <a:lnTo>
                      <a:pt x="0" y="412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3287" y="3419475"/>
                <a:ext cx="515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9525">
                    <a:moveTo>
                      <a:pt x="0" y="0"/>
                    </a:moveTo>
                    <a:lnTo>
                      <a:pt x="51594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7490" y="3357562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7490" y="3440112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143952" y="3332321"/>
              <a:ext cx="25701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pandas / numpy 在哪里用？</a:t>
              </a:r>
              <a:endParaRPr lang="zh-CN" sz="1425" b="1" dirty="0">
                <a:solidFill>
                  <a:srgbClr val="1F29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3908" y="3786664"/>
              <a:ext cx="3797141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preprocess_train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：补齐缺失日期与面板组合</a:t>
              </a: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preprocess_oil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：油价全日期补齐与插值</a:t>
              </a: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preprocess_transactions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：交易量按门店插值</a:t>
              </a: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merge_all_data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：多表合并、时间字段和索引构造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3048000"/>
            <a:ext cx="6006942" cy="2781300"/>
            <a:chOff x="6286500" y="3048000"/>
            <a:chExt cx="6006942" cy="27813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048000"/>
              <a:ext cx="5372100" cy="2781300"/>
            </a:xfrm>
            <a:prstGeom prst="roundRect">
              <a:avLst>
                <a:gd name="adj" fmla="val 4795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584156" y="3357562"/>
              <a:ext cx="185737" cy="143669"/>
              <a:chOff x="6584156" y="3357562"/>
              <a:chExt cx="185737" cy="14366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84156" y="3491706"/>
                <a:ext cx="1857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525">
                    <a:moveTo>
                      <a:pt x="0" y="0"/>
                    </a:moveTo>
                    <a:lnTo>
                      <a:pt x="185737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04794" y="3357562"/>
                <a:ext cx="144462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03187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34143" y="0"/>
                    </a:lnTo>
                    <a:cubicBezTo>
                      <a:pt x="139842" y="0"/>
                      <a:pt x="144462" y="4620"/>
                      <a:pt x="144462" y="10319"/>
                    </a:cubicBezTo>
                    <a:lnTo>
                      <a:pt x="144462" y="92868"/>
                    </a:lnTo>
                    <a:cubicBezTo>
                      <a:pt x="144462" y="98567"/>
                      <a:pt x="139842" y="103187"/>
                      <a:pt x="134143" y="103187"/>
                    </a:cubicBezTo>
                    <a:lnTo>
                      <a:pt x="10319" y="103187"/>
                    </a:lnTo>
                    <a:cubicBezTo>
                      <a:pt x="4620" y="103187"/>
                      <a:pt x="0" y="98567"/>
                      <a:pt x="0" y="92868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897052" y="3332321"/>
              <a:ext cx="28295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模型和时间序列技术怎么落地？</a:t>
              </a:r>
              <a:endParaRPr lang="zh-CN" sz="1425" b="1" dirty="0">
                <a:solidFill>
                  <a:srgbClr val="1F29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37008" y="3786664"/>
              <a:ext cx="5756434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LightGBM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：在 version5 里做递推预测，在 version6+ 里做 Darts 分支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XGBoost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：作为并行分支参与多组 lag 集成与最终融合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Darts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：在 get_target_series、get_covariates、Trainer 中组织主线骨架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r>
                <a:rPr lang="en-US" sz="1275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</a:t>
              </a:r>
              <a:r>
                <a:rPr lang="en-US" sz="1275" b="1" dirty="0">
                  <a:solidFill>
                    <a:srgbClr val="2F80ED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scikit-learn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：负责编码和静态协变量转换等通用预处理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4368803" cy="690562"/>
            <a:chOff x="533400" y="514350"/>
            <a:chExt cx="4368803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关键实验结论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4172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ONLY A FEW FACTORS PRODUCED STABLE SCORE IMPROVEMENT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1485900"/>
            <a:ext cx="11049000" cy="4457700"/>
            <a:chOff x="571500" y="1485900"/>
            <a:chExt cx="11049000" cy="4457700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485900"/>
              <a:ext cx="5334000" cy="2133600"/>
              <a:chOff x="571500" y="1485900"/>
              <a:chExt cx="5334000" cy="21336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485900"/>
                <a:ext cx="5334000" cy="2133600"/>
              </a:xfrm>
              <a:prstGeom prst="roundRect">
                <a:avLst>
                  <a:gd name="adj" fmla="val 8036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095500" y="1485900"/>
                <a:ext cx="2286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476250">
                    <a:moveTo>
                      <a:pt x="238125" y="0"/>
                    </a:moveTo>
                    <a:lnTo>
                      <a:pt x="2047875" y="0"/>
                    </a:lnTo>
                    <a:cubicBezTo>
                      <a:pt x="2179388" y="0"/>
                      <a:pt x="2286000" y="106612"/>
                      <a:pt x="2286000" y="238125"/>
                    </a:cubicBezTo>
                    <a:lnTo>
                      <a:pt x="2286000" y="476250"/>
                    </a:lnTo>
                    <a:lnTo>
                      <a:pt x="0" y="476250"/>
                    </a:lnTo>
                    <a:lnTo>
                      <a:pt x="0" y="238125"/>
                    </a:lnTo>
                    <a:cubicBezTo>
                      <a:pt x="0" y="106612"/>
                      <a:pt x="106612" y="0"/>
                      <a:pt x="238125" y="0"/>
                    </a:cubicBezTo>
                    <a:close/>
                  </a:path>
                </a:pathLst>
              </a:custGeom>
              <a:solidFill>
                <a:srgbClr val="2F80ED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843308" y="16449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融合权重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781050" y="2114550"/>
                <a:ext cx="4914900" cy="12954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12508" y="2376964"/>
                <a:ext cx="395987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最终融合权重不是装饰参数，而是有效优化因子。</a:t>
                </a:r>
                <a:endParaRPr lang="zh-CN" sz="127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13460" y="27660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从</a:t>
                </a:r>
                <a:r>
                  <a:rPr lang="en-US" sz="120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0.60 / 0.40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调到 </a:t>
                </a:r>
                <a:r>
                  <a:rPr lang="en-US" sz="120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0.40 / 0.60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后，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3460" y="3013710"/>
                <a:ext cx="28948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分数从 </a:t>
                </a:r>
                <a:r>
                  <a:rPr lang="en-US" sz="120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0.38041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改善到 </a:t>
                </a:r>
                <a:r>
                  <a:rPr lang="en-US" sz="120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0.38015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附近。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286500" y="1485900"/>
              <a:ext cx="5334000" cy="2133600"/>
              <a:chOff x="6286500" y="1485900"/>
              <a:chExt cx="5334000" cy="21336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286500" y="1485900"/>
                <a:ext cx="5334000" cy="2133600"/>
              </a:xfrm>
              <a:prstGeom prst="roundRect">
                <a:avLst>
                  <a:gd name="adj" fmla="val 8036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810500" y="1485900"/>
                <a:ext cx="2286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476250">
                    <a:moveTo>
                      <a:pt x="238125" y="0"/>
                    </a:moveTo>
                    <a:lnTo>
                      <a:pt x="2047875" y="0"/>
                    </a:lnTo>
                    <a:cubicBezTo>
                      <a:pt x="2179388" y="0"/>
                      <a:pt x="2286000" y="106612"/>
                      <a:pt x="2286000" y="238125"/>
                    </a:cubicBezTo>
                    <a:lnTo>
                      <a:pt x="2286000" y="476250"/>
                    </a:lnTo>
                    <a:lnTo>
                      <a:pt x="0" y="476250"/>
                    </a:lnTo>
                    <a:lnTo>
                      <a:pt x="0" y="238125"/>
                    </a:lnTo>
                    <a:cubicBezTo>
                      <a:pt x="0" y="106612"/>
                      <a:pt x="106612" y="0"/>
                      <a:pt x="238125" y="0"/>
                    </a:cubicBezTo>
                    <a:close/>
                  </a:path>
                </a:pathLst>
              </a:custGeom>
              <a:solidFill>
                <a:srgbClr val="27AE6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463796" y="16449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长周期滞后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496050" y="2114550"/>
                <a:ext cx="4914900" cy="12954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27508" y="2376964"/>
                <a:ext cx="263881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lag 730 与 lag 365 都不能删除。</a:t>
                </a:r>
                <a:endParaRPr lang="zh-CN" sz="127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728460" y="2766060"/>
                <a:ext cx="217474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去掉 </a:t>
                </a:r>
                <a:r>
                  <a:rPr lang="en-US" sz="1200" b="1" dirty="0">
                    <a:solidFill>
                      <a:srgbClr val="27AE6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730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后退化到 </a:t>
                </a:r>
                <a:r>
                  <a:rPr lang="en-US" sz="1200" b="1" dirty="0">
                    <a:solidFill>
                      <a:srgbClr val="27AE6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0.38138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728460" y="3013710"/>
                <a:ext cx="217474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去掉 </a:t>
                </a:r>
                <a:r>
                  <a:rPr lang="en-US" sz="1200" b="1" dirty="0">
                    <a:solidFill>
                      <a:srgbClr val="27AE6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365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后退化到 </a:t>
                </a:r>
                <a:r>
                  <a:rPr lang="en-US" sz="1200" b="1" dirty="0">
                    <a:solidFill>
                      <a:srgbClr val="27AE6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0.38074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71500" y="3810000"/>
              <a:ext cx="5334000" cy="2133600"/>
              <a:chOff x="571500" y="3810000"/>
              <a:chExt cx="5334000" cy="21336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3810000"/>
                <a:ext cx="5334000" cy="2133600"/>
              </a:xfrm>
              <a:prstGeom prst="roundRect">
                <a:avLst>
                  <a:gd name="adj" fmla="val 8036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095500" y="3810000"/>
                <a:ext cx="2286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476250">
                    <a:moveTo>
                      <a:pt x="238125" y="0"/>
                    </a:moveTo>
                    <a:lnTo>
                      <a:pt x="2047875" y="0"/>
                    </a:lnTo>
                    <a:cubicBezTo>
                      <a:pt x="2179388" y="0"/>
                      <a:pt x="2286000" y="106612"/>
                      <a:pt x="2286000" y="238125"/>
                    </a:cubicBezTo>
                    <a:lnTo>
                      <a:pt x="2286000" y="476250"/>
                    </a:lnTo>
                    <a:lnTo>
                      <a:pt x="0" y="476250"/>
                    </a:lnTo>
                    <a:lnTo>
                      <a:pt x="0" y="238125"/>
                    </a:lnTo>
                    <a:cubicBezTo>
                      <a:pt x="0" y="106612"/>
                      <a:pt x="106612" y="0"/>
                      <a:pt x="238125" y="0"/>
                    </a:cubicBezTo>
                    <a:close/>
                  </a:path>
                </a:pathLst>
              </a:custGeom>
              <a:solidFill>
                <a:srgbClr val="163B66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748796" y="39690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节假日去噪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81050" y="4438650"/>
                <a:ext cx="4914900" cy="12954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2508" y="4701064"/>
                <a:ext cx="324578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节假日特征不是越多越好，存在噪声项。</a:t>
                </a:r>
                <a:endParaRPr lang="zh-CN" sz="127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13460" y="5090160"/>
                <a:ext cx="29588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从 7 个候选节日缩减为 4 个核心节日后，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13460" y="5337810"/>
                <a:ext cx="25267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成绩由 </a:t>
                </a:r>
                <a:r>
                  <a:rPr lang="en-US" sz="12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0.38015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提升到 </a:t>
                </a:r>
                <a:r>
                  <a:rPr lang="en-US" sz="1200" b="1" dirty="0">
                    <a:solidFill>
                      <a:srgbClr val="163B6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0.38005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286500" y="3810000"/>
              <a:ext cx="5334000" cy="2133600"/>
              <a:chOff x="6286500" y="3810000"/>
              <a:chExt cx="5334000" cy="2133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286500" y="3810000"/>
                <a:ext cx="5334000" cy="2133600"/>
              </a:xfrm>
              <a:prstGeom prst="roundRect">
                <a:avLst>
                  <a:gd name="adj" fmla="val 8036"/>
                </a:avLst>
              </a:prstGeom>
              <a:solidFill>
                <a:srgbClr val="EEF2F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810500" y="3810000"/>
                <a:ext cx="2286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476250">
                    <a:moveTo>
                      <a:pt x="238125" y="0"/>
                    </a:moveTo>
                    <a:lnTo>
                      <a:pt x="2047875" y="0"/>
                    </a:lnTo>
                    <a:cubicBezTo>
                      <a:pt x="2179388" y="0"/>
                      <a:pt x="2286000" y="106612"/>
                      <a:pt x="2286000" y="238125"/>
                    </a:cubicBezTo>
                    <a:lnTo>
                      <a:pt x="2286000" y="476250"/>
                    </a:lnTo>
                    <a:lnTo>
                      <a:pt x="0" y="476250"/>
                    </a:lnTo>
                    <a:lnTo>
                      <a:pt x="0" y="238125"/>
                    </a:lnTo>
                    <a:cubicBezTo>
                      <a:pt x="0" y="106612"/>
                      <a:pt x="106612" y="0"/>
                      <a:pt x="238125" y="0"/>
                    </a:cubicBezTo>
                    <a:close/>
                  </a:path>
                </a:pathLst>
              </a:custGeom>
              <a:solidFill>
                <a:srgbClr val="D64545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024316" y="3969068"/>
                <a:ext cx="18583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transactions 协变量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6496050" y="4438650"/>
                <a:ext cx="4914900" cy="12954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27508" y="4701064"/>
                <a:ext cx="341538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过去协变量中的 transactions 仍然有效。</a:t>
                </a:r>
                <a:endParaRPr lang="zh-CN" sz="1275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28460" y="5090160"/>
                <a:ext cx="25667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在 version7.3 基础上移除它之后，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28460" y="5337810"/>
                <a:ext cx="165468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分数回退到 </a:t>
                </a:r>
                <a:r>
                  <a:rPr lang="en-US" sz="1200" b="1" dirty="0">
                    <a:solidFill>
                      <a:srgbClr val="D6454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0.38110</a:t>
                </a:r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。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4251188" cy="690562"/>
            <a:chOff x="533400" y="514350"/>
            <a:chExt cx="4251188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最终结果与最佳版本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4054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BEST PUBLIC SCORE · LEADERBOARD POSITION · VERSION7.3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040" y="1007110"/>
            <a:ext cx="5745353" cy="5120640"/>
            <a:chOff x="66040" y="1146810"/>
            <a:chExt cx="5745353" cy="5120640"/>
          </a:xfrm>
        </p:grpSpPr>
        <p:sp>
          <p:nvSpPr>
            <p:cNvPr id="7" name="TextBox 7"/>
            <p:cNvSpPr txBox="1"/>
            <p:nvPr/>
          </p:nvSpPr>
          <p:spPr>
            <a:xfrm>
              <a:off x="66040" y="1146810"/>
              <a:ext cx="4048760" cy="142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9900" b="1" dirty="0">
                  <a:gradFill>
                    <a:gsLst>
                      <a:gs pos="0">
                        <a:srgbClr val="163B66"/>
                      </a:gs>
                      <a:gs pos="100000">
                        <a:srgbClr val="2F80ED"/>
                      </a:gs>
                    </a:gsLst>
                    <a:lin ang="0" scaled="1"/>
                  </a:gradFill>
                  <a:latin typeface="Georgia" panose="02040502050405020303"/>
                  <a:ea typeface="Georgia" panose="02040502050405020303"/>
                  <a:cs typeface="Georgia" panose="02040502050405020303"/>
                </a:rPr>
                <a:t>0.38005</a:t>
              </a:r>
              <a:endParaRPr lang="en-US" sz="9900" b="1" dirty="0">
                <a:gradFill>
                  <a:gsLst>
                    <a:gs pos="0">
                      <a:srgbClr val="163B66"/>
                    </a:gs>
                    <a:gs pos="100000">
                      <a:srgbClr val="2F80ED"/>
                    </a:gs>
                  </a:gsLst>
                  <a:lin ang="0" scaled="1"/>
                </a:gradFill>
                <a:latin typeface="Georgia" panose="02040502050405020303"/>
                <a:ea typeface="Georgia" panose="02040502050405020303"/>
                <a:cs typeface="Georgia" panose="020405020504050203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64908" y="2567464"/>
              <a:ext cx="27816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VERSION7.3 · BEST PUBLIC SCORE</a:t>
              </a:r>
              <a:endParaRPr lang="en-US" sz="1275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952500" y="3143250"/>
              <a:ext cx="3162300" cy="1519238"/>
              <a:chOff x="952500" y="3143250"/>
              <a:chExt cx="3162300" cy="1519238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3143250"/>
                <a:ext cx="3162300" cy="1390650"/>
              </a:xfrm>
              <a:prstGeom prst="roundRect">
                <a:avLst>
                  <a:gd name="adj" fmla="val 1232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23010" y="3451860"/>
                <a:ext cx="12654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63B6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Kaggle 排名表现</a:t>
                </a:r>
                <a:endParaRPr lang="zh-CN" sz="120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67765" y="3534728"/>
                <a:ext cx="1423180" cy="1127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550" b="1" dirty="0">
                    <a:solidFill>
                      <a:srgbClr val="163B66"/>
                    </a:solidFill>
                    <a:latin typeface="Georgia" panose="02040502050405020303"/>
                    <a:ea typeface="Georgia" panose="02040502050405020303"/>
                    <a:cs typeface="Georgia" panose="02040502050405020303"/>
                  </a:rPr>
                  <a:t>108</a:t>
                </a:r>
                <a:endParaRPr lang="en-US" sz="5550" b="1" dirty="0">
                  <a:solidFill>
                    <a:srgbClr val="163B66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758440" y="3787140"/>
                <a:ext cx="81441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F293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/ 1238</a:t>
                </a:r>
                <a:endParaRPr lang="en-US" sz="1800" b="1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23962" y="42410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进入前 </a:t>
                </a:r>
                <a:r>
                  <a:rPr lang="en-US" sz="1125" b="1" dirty="0">
                    <a:solidFill>
                      <a:srgbClr val="2F80E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8.7%</a:t>
                </a:r>
                <a:r>
                  <a:rPr lang="zh-CN" sz="11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左右</a:t>
                </a:r>
                <a:endPara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54405" y="4997768"/>
              <a:ext cx="4856988" cy="1269682"/>
              <a:chOff x="954405" y="4997768"/>
              <a:chExt cx="4856988" cy="126968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54405" y="4997768"/>
                <a:ext cx="3368993" cy="8458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250"/>
                  </a:lnSpc>
                </a:pPr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最佳版本是 </a:t>
                </a:r>
                <a:r>
                  <a:rPr lang="en-US" sz="1350" b="1" dirty="0">
                    <a:solidFill>
                      <a:srgbClr val="2F80ED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version7.3</a:t>
                </a:r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，在主线集成</a:t>
                </a:r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结构不变的情况下，保留 </a:t>
                </a:r>
                <a:r>
                  <a:rPr lang="zh-CN" sz="13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 个核心节假日</a:t>
                </a:r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后</a:t>
                </a:r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取得当前最优公开榜成绩。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56310" y="6023610"/>
                <a:ext cx="485508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截图中的 best entry 为 0.38041，随后版本继续优化到 0.38005。</a:t>
                </a:r>
                <a:endPara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5626735" y="1273175"/>
            <a:ext cx="6195060" cy="4321810"/>
            <a:chOff x="4762500" y="1485900"/>
            <a:chExt cx="6896100" cy="4476750"/>
          </a:xfrm>
        </p:grpSpPr>
        <p:sp>
          <p:nvSpPr>
            <p:cNvPr id="19" name="Rectangle 19"/>
            <p:cNvSpPr/>
            <p:nvPr/>
          </p:nvSpPr>
          <p:spPr>
            <a:xfrm>
              <a:off x="4762500" y="1485900"/>
              <a:ext cx="6896100" cy="4476750"/>
            </a:xfrm>
            <a:prstGeom prst="roundRect">
              <a:avLst>
                <a:gd name="adj" fmla="val 383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50155" y="1721168"/>
              <a:ext cx="1357455" cy="2150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排行榜截图证明</a:t>
              </a:r>
              <a:endParaRPr lang="zh-CN" sz="135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rcRect t="929" b="929"/>
            <a:stretch>
              <a:fillRect/>
            </a:stretch>
          </p:blipFill>
          <p:spPr>
            <a:xfrm>
              <a:off x="5067300" y="2076450"/>
              <a:ext cx="6286500" cy="3543300"/>
            </a:xfrm>
            <a:prstGeom prst="rect">
              <a:avLst/>
            </a:prstGeom>
          </p:spPr>
        </p:pic>
        <p:sp>
          <p:nvSpPr>
            <p:cNvPr id="22" name="Rectangle 22"/>
            <p:cNvSpPr/>
            <p:nvPr/>
          </p:nvSpPr>
          <p:spPr>
            <a:xfrm>
              <a:off x="5067300" y="5143500"/>
              <a:ext cx="6286500" cy="476250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0660" y="5318760"/>
              <a:ext cx="5519166" cy="1907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截图显示项目账号排名约为 </a:t>
              </a:r>
              <a:r>
                <a:rPr lang="en-US" sz="1200" b="1" dirty="0">
                  <a:solidFill>
                    <a:srgbClr val="163B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108 / 1238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，对应页面 best entry 为 </a:t>
              </a:r>
              <a:r>
                <a:rPr lang="en-US" sz="1200" b="1" dirty="0">
                  <a:solidFill>
                    <a:srgbClr val="163B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0.38041</a:t>
              </a:r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。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446050" y="639079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16"/>
          <p:cNvSpPr txBox="1"/>
          <p:nvPr/>
        </p:nvSpPr>
        <p:spPr>
          <a:xfrm>
            <a:off x="6092190" y="5883910"/>
            <a:ext cx="4992370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项目地址在：</a:t>
            </a:r>
            <a:r>
              <a:rPr lang="en-US" alt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https://github.com/Qiuner/store-sales-time-series-forecasting</a:t>
            </a:r>
            <a:br>
              <a:rPr lang="en-US" alt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</a:br>
            <a:r>
              <a:rPr lang="zh-CN" altLang="en-US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现在这个成绩已经被挤到</a:t>
            </a:r>
            <a:r>
              <a:rPr lang="en-US" alt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</a:t>
            </a:r>
            <a:r>
              <a:rPr lang="zh-CN" altLang="en-US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四百多名了</a:t>
            </a:r>
            <a:r>
              <a:rPr lang="en-US" alt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……</a:t>
            </a:r>
            <a:r>
              <a:rPr lang="zh-CN" altLang="en-US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但在两周前，排名是</a:t>
            </a:r>
            <a:r>
              <a:rPr lang="en-US" alt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108</a:t>
            </a:r>
            <a:endParaRPr lang="en-US" altLang="zh-CN" sz="12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14350"/>
            <a:ext cx="3479342" cy="690562"/>
            <a:chOff x="533400" y="514350"/>
            <a:chExt cx="3479342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5143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5629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项目收获与反思</a:t>
              </a:r>
              <a:endParaRPr lang="zh-CN" sz="25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91552"/>
              <a:ext cx="3283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BASELINE · VALIDATION · EXPERIMENT DISCIPLINE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809750"/>
            <a:ext cx="3429000" cy="3600450"/>
            <a:chOff x="533400" y="1809750"/>
            <a:chExt cx="3429000" cy="3600450"/>
          </a:xfrm>
        </p:grpSpPr>
        <p:sp>
          <p:nvSpPr>
            <p:cNvPr id="7" name="Rectangle 7"/>
            <p:cNvSpPr/>
            <p:nvPr/>
          </p:nvSpPr>
          <p:spPr>
            <a:xfrm>
              <a:off x="533400" y="1809750"/>
              <a:ext cx="3429000" cy="360045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3438" y="2128838"/>
              <a:ext cx="200026" cy="200025"/>
              <a:chOff x="833438" y="2128838"/>
              <a:chExt cx="200026" cy="2000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33438" y="21288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3176" y="21732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07892" y="22844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81100" y="21431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基线先行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3908" y="2586514"/>
              <a:ext cx="262318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简单模型的价值，不在于最终成绩，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而在于它能快速告诉我们：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后续复杂改动到底有没有意义。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3848100"/>
              <a:ext cx="2895600" cy="1123950"/>
            </a:xfrm>
            <a:prstGeom prst="roundRect">
              <a:avLst>
                <a:gd name="adj" fmla="val 8475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5360" y="40424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</a:t>
              </a:r>
              <a:endParaRPr lang="zh-CN" sz="120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6312" y="4336256"/>
              <a:ext cx="22002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没有基线，就无法判断一次优化</a:t>
              </a:r>
              <a:r>
                <a: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是“真的变好”还是“只是更复杂”。</a:t>
              </a:r>
              <a:endPara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81500" y="1809750"/>
            <a:ext cx="3429000" cy="3600450"/>
            <a:chOff x="4381500" y="1809750"/>
            <a:chExt cx="3429000" cy="3600450"/>
          </a:xfrm>
        </p:grpSpPr>
        <p:sp>
          <p:nvSpPr>
            <p:cNvPr id="18" name="Rectangle 18"/>
            <p:cNvSpPr/>
            <p:nvPr/>
          </p:nvSpPr>
          <p:spPr>
            <a:xfrm>
              <a:off x="4381500" y="1809750"/>
              <a:ext cx="3429000" cy="360045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681538" y="2128838"/>
              <a:ext cx="200026" cy="200026"/>
              <a:chOff x="4681538" y="2128838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770438" y="22177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725988" y="21732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681538" y="2128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029200" y="21431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过程一致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32008" y="2586514"/>
              <a:ext cx="262318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时间序列项目里，最危险的问题往往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不是模型弱，而是线下验证方式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与真实预测流程并不一致。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48200" y="3848100"/>
              <a:ext cx="2895600" cy="1123950"/>
            </a:xfrm>
            <a:prstGeom prst="roundRect">
              <a:avLst>
                <a:gd name="adj" fmla="val 8475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23460" y="40424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</a:t>
              </a:r>
              <a:endParaRPr lang="zh-CN" sz="120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24412" y="4336256"/>
              <a:ext cx="23145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递推预测、协变量可见性和时间切分</a:t>
              </a:r>
              <a:r>
                <a: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必须和真实提交场景保持一致。</a:t>
              </a:r>
              <a:endPara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29600" y="1809750"/>
            <a:ext cx="3429000" cy="3600450"/>
            <a:chOff x="8229600" y="1809750"/>
            <a:chExt cx="3429000" cy="3600450"/>
          </a:xfrm>
        </p:grpSpPr>
        <p:sp>
          <p:nvSpPr>
            <p:cNvPr id="29" name="Rectangle 29"/>
            <p:cNvSpPr/>
            <p:nvPr/>
          </p:nvSpPr>
          <p:spPr>
            <a:xfrm>
              <a:off x="8229600" y="1809750"/>
              <a:ext cx="3429000" cy="360045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551863" y="2139950"/>
              <a:ext cx="166687" cy="177801"/>
              <a:chOff x="8551863" y="2139950"/>
              <a:chExt cx="166687" cy="1778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551863" y="22733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551863" y="21399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662988" y="21399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574088" y="21844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96313" y="221773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651875" y="22177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877300" y="21431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实验纪律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80108" y="2586514"/>
              <a:ext cx="262318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真正让这个项目形成价值的，不只是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分数本身，而是每次只改一个因子、</a:t>
              </a:r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保留版本和结论记录的方式。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96300" y="3848100"/>
              <a:ext cx="2895600" cy="1123950"/>
            </a:xfrm>
            <a:prstGeom prst="roundRect">
              <a:avLst>
                <a:gd name="adj" fmla="val 8475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71560" y="40424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B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</a:t>
              </a:r>
              <a:endParaRPr lang="zh-CN" sz="1200" b="1" dirty="0">
                <a:solidFill>
                  <a:srgbClr val="163B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72512" y="4336256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课程项目也可以有接近竞赛项目的</a:t>
              </a:r>
              <a:r>
                <a: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实验逻辑与版本管理意识。</a:t>
              </a:r>
              <a:endPara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81100" y="571500"/>
            <a:ext cx="9886950" cy="6134100"/>
            <a:chOff x="1181100" y="571500"/>
            <a:chExt cx="9886950" cy="6134100"/>
          </a:xfrm>
        </p:grpSpPr>
        <p:sp>
          <p:nvSpPr>
            <p:cNvPr id="3" name="Ellipse 3"/>
            <p:cNvSpPr/>
            <p:nvPr/>
          </p:nvSpPr>
          <p:spPr>
            <a:xfrm>
              <a:off x="8782050" y="571500"/>
              <a:ext cx="2286000" cy="2286000"/>
            </a:xfrm>
            <a:prstGeom prst="ellipse">
              <a:avLst/>
            </a:prstGeom>
            <a:solidFill>
              <a:srgbClr val="2F80ED">
                <a:alpha val="4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181100" y="5105400"/>
              <a:ext cx="1600200" cy="1600200"/>
            </a:xfrm>
            <a:prstGeom prst="ellipse">
              <a:avLst/>
            </a:prstGeom>
            <a:solidFill>
              <a:srgbClr val="163B66">
                <a:alpha val="4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68655" y="568642"/>
            <a:ext cx="4415976" cy="674370"/>
            <a:chOff x="668655" y="568642"/>
            <a:chExt cx="4415976" cy="674370"/>
          </a:xfrm>
        </p:grpSpPr>
        <p:sp>
          <p:nvSpPr>
            <p:cNvPr id="6" name="TextBox 6"/>
            <p:cNvSpPr txBox="1"/>
            <p:nvPr/>
          </p:nvSpPr>
          <p:spPr>
            <a:xfrm>
              <a:off x="668655" y="568642"/>
              <a:ext cx="166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后续工作</a:t>
              </a:r>
              <a:endParaRPr lang="zh-CN" sz="28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91515" y="1029652"/>
              <a:ext cx="43931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NEXT STEPS · FROM COURSEWORK TO REPRODUCIBLE FRAMEWORK</a:t>
              </a:r>
              <a:endParaRPr lang="en-US" sz="1050" b="1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6755" y="1968818"/>
            <a:ext cx="5122545" cy="2669857"/>
            <a:chOff x="706755" y="1968818"/>
            <a:chExt cx="5122545" cy="2669857"/>
          </a:xfrm>
        </p:grpSpPr>
        <p:sp>
          <p:nvSpPr>
            <p:cNvPr id="9" name="TextBox 9"/>
            <p:cNvSpPr txBox="1"/>
            <p:nvPr/>
          </p:nvSpPr>
          <p:spPr>
            <a:xfrm>
              <a:off x="706755" y="19688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继续筛选最优节假日最小子集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723900" y="228600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6755" y="2749868"/>
              <a:ext cx="34457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测试其他协变量和 lags 分支的边际贡献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723900" y="306705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6755" y="3530918"/>
              <a:ext cx="28786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微调 LightGBM 与 XGBoost 参数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" y="384810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6755" y="4311968"/>
              <a:ext cx="31666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80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</a:t>
              </a:r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将脚本式实验整理成可复现实验框架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723900" y="46291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E6ECF2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065645" y="2517458"/>
            <a:ext cx="5130091" cy="2247423"/>
            <a:chOff x="7065645" y="2517458"/>
            <a:chExt cx="5130091" cy="2247423"/>
          </a:xfrm>
        </p:grpSpPr>
        <p:sp>
          <p:nvSpPr>
            <p:cNvPr id="18" name="TextBox 18"/>
            <p:cNvSpPr txBox="1"/>
            <p:nvPr/>
          </p:nvSpPr>
          <p:spPr>
            <a:xfrm>
              <a:off x="7065645" y="2517458"/>
              <a:ext cx="378487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63B66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</a:rPr>
                <a:t>From Coursework</a:t>
              </a:r>
              <a:endParaRPr lang="en-US" sz="3150" b="1" dirty="0">
                <a:solidFill>
                  <a:srgbClr val="163B66"/>
                </a:solidFill>
                <a:latin typeface="Georgia" panose="02040502050405020303"/>
                <a:ea typeface="Georgia" panose="02040502050405020303"/>
                <a:cs typeface="Georgia" panose="02040502050405020303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65645" y="2993708"/>
              <a:ext cx="513009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63B66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</a:rPr>
                <a:t>to Reproducible Pipeline</a:t>
              </a:r>
              <a:endParaRPr lang="en-US" sz="3150" b="1" dirty="0">
                <a:solidFill>
                  <a:srgbClr val="163B66"/>
                </a:solidFill>
                <a:latin typeface="Georgia" panose="02040502050405020303"/>
                <a:ea typeface="Georgia" panose="02040502050405020303"/>
                <a:cs typeface="Georgia" panose="02040502050405020303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87552" y="3903821"/>
              <a:ext cx="3474720" cy="861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当前结果已经证明主线方向成立，</a:t>
              </a:r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下一步更重要的是让这个项目具备</a:t>
              </a:r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更强的复现性、可维护性和持续优化能力。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446050" y="61431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lang="en-US" sz="975" dirty="0">
              <a:solidFill>
                <a:srgbClr val="9CA3A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3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4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5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6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7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8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9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0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1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2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3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4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5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6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7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8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19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0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1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2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3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4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5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6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7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8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29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30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31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32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33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34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ags/tag35.xml><?xml version="1.0" encoding="utf-8"?>
<p:tagLst xmlns:p="http://schemas.openxmlformats.org/presentationml/2006/main">
  <p:tag name="KSO_WM_DIAGRAM_VIRTUALLY_FRAME" val="{&quot;height&quot;:159,&quot;left&quot;:42,&quot;top&quot;:127.5,&quot;width&quot;:87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6610</Words>
  <Application>WPS 演示</Application>
  <PresentationFormat>On-screen Show (16:9)</PresentationFormat>
  <Paragraphs>661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Georgia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覕</cp:lastModifiedBy>
  <cp:revision>11</cp:revision>
  <dcterms:created xsi:type="dcterms:W3CDTF">2026-06-22T08:44:00Z</dcterms:created>
  <dcterms:modified xsi:type="dcterms:W3CDTF">2026-06-23T04:21:03Z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4909A6A2E5B2442C9A62DF627E3039AF_12</vt:lpwstr>
  </property>
  <property fmtid="{D5CDD505-2E9C-101B-9397-08002B2CF9AE}" pid="3" name="KSOProductBuildVer">
    <vt:lpwstr>2052-12.1.0.26895</vt:lpwstr>
  </property>
</Properties>
</file>